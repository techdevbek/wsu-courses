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7" r:id="rId2"/>
    <p:sldId id="400" r:id="rId3"/>
    <p:sldId id="258" r:id="rId4"/>
    <p:sldId id="318" r:id="rId5"/>
    <p:sldId id="317" r:id="rId6"/>
    <p:sldId id="388" r:id="rId7"/>
    <p:sldId id="386" r:id="rId8"/>
    <p:sldId id="387" r:id="rId9"/>
    <p:sldId id="389" r:id="rId10"/>
    <p:sldId id="399" r:id="rId11"/>
    <p:sldId id="391" r:id="rId12"/>
    <p:sldId id="390" r:id="rId13"/>
    <p:sldId id="394" r:id="rId14"/>
    <p:sldId id="395" r:id="rId15"/>
    <p:sldId id="396" r:id="rId16"/>
    <p:sldId id="397" r:id="rId17"/>
    <p:sldId id="398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  <a:srgbClr val="CCECFF"/>
    <a:srgbClr val="FF9966"/>
    <a:srgbClr val="CCFFCC"/>
    <a:srgbClr val="33CCCC"/>
    <a:srgbClr val="009999"/>
    <a:srgbClr val="CC3300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15663" autoAdjust="0"/>
    <p:restoredTop sz="94662" autoAdjust="0"/>
  </p:normalViewPr>
  <p:slideViewPr>
    <p:cSldViewPr>
      <p:cViewPr varScale="1">
        <p:scale>
          <a:sx n="118" d="100"/>
          <a:sy n="118" d="100"/>
        </p:scale>
        <p:origin x="126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33A1500-D1B9-4C22-B6EE-C95A87E8C6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55268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6480B9C-D680-44B8-AE43-832FA65A4048}" type="slidenum">
              <a:rPr lang="en-US" altLang="en-US" sz="1200"/>
              <a:pPr eaLnBrk="1" hangingPunct="1"/>
              <a:t>1</a:t>
            </a:fld>
            <a:endParaRPr lang="en-US" altLang="en-US" sz="1200"/>
          </a:p>
        </p:txBody>
      </p:sp>
      <p:sp>
        <p:nvSpPr>
          <p:cNvPr id="747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30962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6480B9C-D680-44B8-AE43-832FA65A4048}" type="slidenum">
              <a:rPr lang="en-US" altLang="en-US" sz="1200"/>
              <a:pPr eaLnBrk="1" hangingPunct="1"/>
              <a:t>2</a:t>
            </a:fld>
            <a:endParaRPr lang="en-US" altLang="en-US" sz="1200"/>
          </a:p>
        </p:txBody>
      </p:sp>
      <p:sp>
        <p:nvSpPr>
          <p:cNvPr id="747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10880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EA5B777-1766-483D-A19B-B4E9FB5B817A}" type="slidenum">
              <a:rPr lang="en-US" altLang="en-US" sz="1200"/>
              <a:pPr eaLnBrk="1" hangingPunct="1"/>
              <a:t>3</a:t>
            </a:fld>
            <a:endParaRPr lang="en-US" altLang="en-US" sz="1200"/>
          </a:p>
        </p:txBody>
      </p:sp>
      <p:sp>
        <p:nvSpPr>
          <p:cNvPr id="757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504310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FDFDED7-F47B-45E9-9014-44863345DFBD}" type="slidenum">
              <a:rPr lang="en-US" altLang="en-US" sz="1200"/>
              <a:pPr eaLnBrk="1" hangingPunct="1"/>
              <a:t>4</a:t>
            </a:fld>
            <a:endParaRPr lang="en-US" altLang="en-US" sz="1200"/>
          </a:p>
        </p:txBody>
      </p:sp>
      <p:sp>
        <p:nvSpPr>
          <p:cNvPr id="768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67247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DC12C4C-A921-49B9-8D72-010EEDCFF246}" type="slidenum">
              <a:rPr lang="en-US" altLang="en-US" sz="1200"/>
              <a:pPr eaLnBrk="1" hangingPunct="1"/>
              <a:t>5</a:t>
            </a:fld>
            <a:endParaRPr lang="en-US" altLang="en-US" sz="1200"/>
          </a:p>
        </p:txBody>
      </p:sp>
      <p:sp>
        <p:nvSpPr>
          <p:cNvPr id="798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04685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6480B9C-D680-44B8-AE43-832FA65A4048}" type="slidenum">
              <a:rPr lang="en-US" altLang="en-US" sz="1200"/>
              <a:pPr eaLnBrk="1" hangingPunct="1"/>
              <a:t>6</a:t>
            </a:fld>
            <a:endParaRPr lang="en-US" altLang="en-US" sz="1200"/>
          </a:p>
        </p:txBody>
      </p:sp>
      <p:sp>
        <p:nvSpPr>
          <p:cNvPr id="747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831773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FDFDED7-F47B-45E9-9014-44863345DFBD}" type="slidenum">
              <a:rPr lang="en-US" altLang="en-US" sz="1200"/>
              <a:pPr eaLnBrk="1" hangingPunct="1"/>
              <a:t>7</a:t>
            </a:fld>
            <a:endParaRPr lang="en-US" altLang="en-US" sz="1200"/>
          </a:p>
        </p:txBody>
      </p:sp>
      <p:sp>
        <p:nvSpPr>
          <p:cNvPr id="768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82533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DC12C4C-A921-49B9-8D72-010EEDCFF246}" type="slidenum">
              <a:rPr lang="en-US" altLang="en-US" sz="1200"/>
              <a:pPr eaLnBrk="1" hangingPunct="1"/>
              <a:t>8</a:t>
            </a:fld>
            <a:endParaRPr lang="en-US" altLang="en-US" sz="1200"/>
          </a:p>
        </p:txBody>
      </p:sp>
      <p:sp>
        <p:nvSpPr>
          <p:cNvPr id="798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575774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6480B9C-D680-44B8-AE43-832FA65A4048}" type="slidenum">
              <a:rPr lang="en-US" altLang="en-US" sz="1200"/>
              <a:pPr eaLnBrk="1" hangingPunct="1"/>
              <a:t>9</a:t>
            </a:fld>
            <a:endParaRPr lang="en-US" altLang="en-US" sz="1200"/>
          </a:p>
        </p:txBody>
      </p:sp>
      <p:sp>
        <p:nvSpPr>
          <p:cNvPr id="747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028104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FDFDED7-F47B-45E9-9014-44863345DFBD}" type="slidenum">
              <a:rPr lang="en-US" altLang="en-US" sz="1200"/>
              <a:pPr eaLnBrk="1" hangingPunct="1"/>
              <a:t>10</a:t>
            </a:fld>
            <a:endParaRPr lang="en-US" altLang="en-US" sz="1200"/>
          </a:p>
        </p:txBody>
      </p:sp>
      <p:sp>
        <p:nvSpPr>
          <p:cNvPr id="768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956926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DC12C4C-A921-49B9-8D72-010EEDCFF246}" type="slidenum">
              <a:rPr lang="en-US" altLang="en-US" sz="1200"/>
              <a:pPr eaLnBrk="1" hangingPunct="1"/>
              <a:t>11</a:t>
            </a:fld>
            <a:endParaRPr lang="en-US" altLang="en-US" sz="1200"/>
          </a:p>
        </p:txBody>
      </p:sp>
      <p:sp>
        <p:nvSpPr>
          <p:cNvPr id="798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57479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FDFDED7-F47B-45E9-9014-44863345DFBD}" type="slidenum">
              <a:rPr lang="en-US" altLang="en-US" sz="1200"/>
              <a:pPr eaLnBrk="1" hangingPunct="1"/>
              <a:t>12</a:t>
            </a:fld>
            <a:endParaRPr lang="en-US" altLang="en-US" sz="1200"/>
          </a:p>
        </p:txBody>
      </p:sp>
      <p:sp>
        <p:nvSpPr>
          <p:cNvPr id="768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301304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6480B9C-D680-44B8-AE43-832FA65A4048}" type="slidenum">
              <a:rPr lang="en-US" altLang="en-US" sz="1200"/>
              <a:pPr eaLnBrk="1" hangingPunct="1"/>
              <a:t>13</a:t>
            </a:fld>
            <a:endParaRPr lang="en-US" altLang="en-US" sz="1200"/>
          </a:p>
        </p:txBody>
      </p:sp>
      <p:sp>
        <p:nvSpPr>
          <p:cNvPr id="747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2165924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FDFDED7-F47B-45E9-9014-44863345DFBD}" type="slidenum">
              <a:rPr lang="en-US" altLang="en-US" sz="1200"/>
              <a:pPr eaLnBrk="1" hangingPunct="1"/>
              <a:t>14</a:t>
            </a:fld>
            <a:endParaRPr lang="en-US" altLang="en-US" sz="1200"/>
          </a:p>
        </p:txBody>
      </p:sp>
      <p:sp>
        <p:nvSpPr>
          <p:cNvPr id="768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278472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DC12C4C-A921-49B9-8D72-010EEDCFF246}" type="slidenum">
              <a:rPr lang="en-US" altLang="en-US" sz="1200"/>
              <a:pPr eaLnBrk="1" hangingPunct="1"/>
              <a:t>15</a:t>
            </a:fld>
            <a:endParaRPr lang="en-US" altLang="en-US" sz="1200"/>
          </a:p>
        </p:txBody>
      </p:sp>
      <p:sp>
        <p:nvSpPr>
          <p:cNvPr id="798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482740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FDFDED7-F47B-45E9-9014-44863345DFBD}" type="slidenum">
              <a:rPr lang="en-US" altLang="en-US" sz="1200"/>
              <a:pPr eaLnBrk="1" hangingPunct="1"/>
              <a:t>16</a:t>
            </a:fld>
            <a:endParaRPr lang="en-US" altLang="en-US" sz="1200"/>
          </a:p>
        </p:txBody>
      </p:sp>
      <p:sp>
        <p:nvSpPr>
          <p:cNvPr id="768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6249558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FDFDED7-F47B-45E9-9014-44863345DFBD}" type="slidenum">
              <a:rPr lang="en-US" altLang="en-US" sz="1200"/>
              <a:pPr eaLnBrk="1" hangingPunct="1"/>
              <a:t>17</a:t>
            </a:fld>
            <a:endParaRPr lang="en-US" altLang="en-US" sz="1200"/>
          </a:p>
        </p:txBody>
      </p:sp>
      <p:sp>
        <p:nvSpPr>
          <p:cNvPr id="768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97348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 userDrawn="1"/>
        </p:nvSpPr>
        <p:spPr bwMode="auto">
          <a:xfrm>
            <a:off x="3200400" y="6172200"/>
            <a:ext cx="5181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200" i="1">
                <a:latin typeface="Arial" pitchFamily="34" charset="0"/>
              </a:rPr>
              <a:t>Finite Mathematics:  An Applied Approach </a:t>
            </a:r>
            <a:r>
              <a:rPr lang="en-US" sz="1200">
                <a:latin typeface="Arial" pitchFamily="34" charset="0"/>
              </a:rPr>
              <a:t> by Michael Sullivan</a:t>
            </a:r>
          </a:p>
          <a:p>
            <a:pPr algn="r">
              <a:defRPr/>
            </a:pPr>
            <a:r>
              <a:rPr lang="en-US" sz="1200">
                <a:latin typeface="Arial" pitchFamily="34" charset="0"/>
              </a:rPr>
              <a:t>Copyright 2011 by John Wiley &amp; Sons.  All rights reserved.</a:t>
            </a:r>
          </a:p>
        </p:txBody>
      </p:sp>
      <p:sp>
        <p:nvSpPr>
          <p:cNvPr id="1904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36630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247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0944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650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365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60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343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2514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2459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189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0215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26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3200400" y="6172200"/>
            <a:ext cx="5181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200" i="1" dirty="0">
                <a:latin typeface="Arial" charset="0"/>
              </a:rPr>
              <a:t>Advanced Engineering Mathematics, 10/e </a:t>
            </a:r>
            <a:r>
              <a:rPr lang="en-US" sz="1200" dirty="0">
                <a:latin typeface="Arial" charset="0"/>
              </a:rPr>
              <a:t>by Erwin </a:t>
            </a:r>
            <a:r>
              <a:rPr lang="en-US" sz="1200" dirty="0" err="1">
                <a:latin typeface="Arial" charset="0"/>
              </a:rPr>
              <a:t>Kreyszig</a:t>
            </a:r>
            <a:endParaRPr lang="en-US" sz="1200" dirty="0">
              <a:latin typeface="Arial" charset="0"/>
            </a:endParaRPr>
          </a:p>
          <a:p>
            <a:pPr algn="r">
              <a:defRPr/>
            </a:pPr>
            <a:r>
              <a:rPr lang="en-US" sz="1200" dirty="0">
                <a:latin typeface="Arial" charset="0"/>
              </a:rPr>
              <a:t>Copyright 2011 by John Wiley &amp; Sons. </a:t>
            </a:r>
            <a:r>
              <a:rPr lang="en-US" sz="1200" dirty="0">
                <a:latin typeface="Arial" charset="0"/>
              </a:rPr>
              <a:t>All </a:t>
            </a:r>
            <a:r>
              <a:rPr lang="en-US" sz="1200" dirty="0">
                <a:latin typeface="Arial" charset="0"/>
              </a:rPr>
              <a:t>rights reserved.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914400" y="2286000"/>
            <a:ext cx="7467600" cy="1200329"/>
          </a:xfrm>
          <a:prstGeom prst="rect">
            <a:avLst/>
          </a:prstGeom>
          <a:solidFill>
            <a:srgbClr val="DDDDFF"/>
          </a:solidFill>
          <a:ln w="9525">
            <a:solidFill>
              <a:srgbClr val="0099CC"/>
            </a:solidFill>
            <a:miter lim="800000"/>
            <a:headEnd/>
            <a:tailEnd/>
          </a:ln>
          <a:effectLst>
            <a:outerShdw dist="172739" dir="3238358" algn="ctr" rotWithShape="0">
              <a:schemeClr val="folHlink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dirty="0">
              <a:latin typeface="Palatino Linotype" pitchFamily="18" charset="0"/>
            </a:endParaRPr>
          </a:p>
          <a:p>
            <a:pPr algn="ctr">
              <a:defRPr/>
            </a:pPr>
            <a:r>
              <a:rPr lang="en-US" sz="4800" b="1" dirty="0" smtClean="0">
                <a:solidFill>
                  <a:srgbClr val="33CCCC"/>
                </a:solidFill>
                <a:latin typeface="Arial" charset="0"/>
              </a:rPr>
              <a:t>14</a:t>
            </a:r>
            <a:r>
              <a:rPr lang="en-US" sz="3600" b="1" dirty="0" smtClean="0">
                <a:solidFill>
                  <a:srgbClr val="CC3300"/>
                </a:solidFill>
                <a:latin typeface="Arial" charset="0"/>
              </a:rPr>
              <a:t>  </a:t>
            </a:r>
            <a:r>
              <a:rPr lang="en-US" sz="2800" b="1" dirty="0" smtClean="0">
                <a:solidFill>
                  <a:srgbClr val="009999"/>
                </a:solidFill>
                <a:latin typeface="Arial" charset="0"/>
              </a:rPr>
              <a:t>Complex Integration</a:t>
            </a:r>
            <a:endParaRPr lang="en-US" sz="2800" b="1" dirty="0">
              <a:solidFill>
                <a:srgbClr val="009999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914400" y="2286000"/>
            <a:ext cx="7467600" cy="1200329"/>
          </a:xfrm>
          <a:prstGeom prst="rect">
            <a:avLst/>
          </a:prstGeom>
          <a:solidFill>
            <a:srgbClr val="DDDDFF"/>
          </a:solidFill>
          <a:ln w="9525">
            <a:solidFill>
              <a:srgbClr val="0099CC"/>
            </a:solidFill>
            <a:miter lim="800000"/>
            <a:headEnd/>
            <a:tailEnd/>
          </a:ln>
          <a:effectLst>
            <a:outerShdw dist="172739" dir="3238358" algn="ctr" rotWithShape="0">
              <a:schemeClr val="folHlink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dirty="0">
              <a:latin typeface="Palatino Linotype" pitchFamily="18" charset="0"/>
            </a:endParaRPr>
          </a:p>
          <a:p>
            <a:pPr algn="ctr">
              <a:defRPr/>
            </a:pPr>
            <a:r>
              <a:rPr lang="en-US" sz="4800" b="1" dirty="0" smtClean="0">
                <a:solidFill>
                  <a:srgbClr val="33CCCC"/>
                </a:solidFill>
                <a:latin typeface="Arial" charset="0"/>
              </a:rPr>
              <a:t>14.1</a:t>
            </a:r>
            <a:r>
              <a:rPr lang="en-US" sz="3600" b="1" dirty="0" smtClean="0">
                <a:solidFill>
                  <a:srgbClr val="CC3300"/>
                </a:solidFill>
                <a:latin typeface="Arial" charset="0"/>
              </a:rPr>
              <a:t>  </a:t>
            </a:r>
            <a:r>
              <a:rPr lang="en-US" sz="2800" b="1" dirty="0" smtClean="0">
                <a:solidFill>
                  <a:srgbClr val="009999"/>
                </a:solidFill>
                <a:latin typeface="Arial" charset="0"/>
              </a:rPr>
              <a:t>Line Integral in the Complex Plane</a:t>
            </a:r>
            <a:endParaRPr lang="en-US" sz="2800" b="1" dirty="0">
              <a:solidFill>
                <a:srgbClr val="009999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960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102" name="Text Box 6"/>
              <p:cNvSpPr txBox="1">
                <a:spLocks noChangeArrowheads="1"/>
              </p:cNvSpPr>
              <p:nvPr/>
            </p:nvSpPr>
            <p:spPr bwMode="auto">
              <a:xfrm>
                <a:off x="457200" y="1809750"/>
                <a:ext cx="8305800" cy="3032305"/>
              </a:xfrm>
              <a:prstGeom prst="rect">
                <a:avLst/>
              </a:prstGeom>
              <a:solidFill>
                <a:srgbClr val="DDDDFF"/>
              </a:solid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dirty="0" smtClean="0">
                    <a:latin typeface="Palatino Linotype" pitchFamily="18" charset="0"/>
                  </a:rPr>
                  <a:t>Theorem 1. </a:t>
                </a:r>
                <a:r>
                  <a:rPr lang="en-US" b="1" dirty="0" smtClean="0">
                    <a:latin typeface="Palatino Linotype" pitchFamily="18" charset="0"/>
                  </a:rPr>
                  <a:t>Indefinite Integration of Analytic Functions</a:t>
                </a:r>
              </a:p>
              <a:p>
                <a:pPr>
                  <a:spcBef>
                    <a:spcPct val="50000"/>
                  </a:spcBef>
                  <a:defRPr/>
                </a:pPr>
                <a:r>
                  <a:rPr lang="en-US" dirty="0" smtClean="0">
                    <a:latin typeface="Palatino Linotype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>
                    <a:latin typeface="Palatino Linotype" pitchFamily="18" charset="0"/>
                  </a:rPr>
                  <a:t> be analytic in a simply connected domain </a:t>
                </a:r>
                <a:r>
                  <a:rPr lang="en-US" i="1" dirty="0" smtClean="0">
                    <a:latin typeface="Palatino Linotype" pitchFamily="18" charset="0"/>
                  </a:rPr>
                  <a:t>D</a:t>
                </a:r>
                <a:r>
                  <a:rPr lang="en-US" dirty="0" smtClean="0">
                    <a:latin typeface="Palatino Linotype" pitchFamily="18" charset="0"/>
                  </a:rPr>
                  <a:t>. Then there exists an indefinite integral,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>
                    <a:latin typeface="Palatino Linotype" pitchFamily="18" charset="0"/>
                  </a:rPr>
                  <a:t>,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>
                    <a:latin typeface="Palatino Linotype" pitchFamily="18" charset="0"/>
                  </a:rPr>
                  <a:t> in the domain </a:t>
                </a:r>
                <a:r>
                  <a:rPr lang="en-US" i="1" dirty="0" smtClean="0">
                    <a:latin typeface="Palatino Linotype" pitchFamily="18" charset="0"/>
                  </a:rPr>
                  <a:t>D</a:t>
                </a:r>
                <a:r>
                  <a:rPr lang="en-US" dirty="0" smtClean="0">
                    <a:latin typeface="Palatino Linotype" pitchFamily="18" charset="0"/>
                  </a:rPr>
                  <a:t>, and for all paths in </a:t>
                </a:r>
                <a:r>
                  <a:rPr lang="en-US" i="1" dirty="0" smtClean="0">
                    <a:latin typeface="Palatino Linotype" pitchFamily="18" charset="0"/>
                  </a:rPr>
                  <a:t>D</a:t>
                </a:r>
                <a:r>
                  <a:rPr lang="en-US" dirty="0" smtClean="0">
                    <a:latin typeface="Palatino Linotype" pitchFamily="18" charset="0"/>
                  </a:rPr>
                  <a:t> joining two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>
                    <a:latin typeface="Palatino Linotype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>
                    <a:latin typeface="Palatino Linotype" pitchFamily="18" charset="0"/>
                  </a:rPr>
                  <a:t> in </a:t>
                </a:r>
                <a:r>
                  <a:rPr lang="en-US" i="1" dirty="0" smtClean="0">
                    <a:latin typeface="Palatino Linotype" pitchFamily="18" charset="0"/>
                  </a:rPr>
                  <a:t>D</a:t>
                </a:r>
                <a:r>
                  <a:rPr lang="en-US" dirty="0" smtClean="0">
                    <a:latin typeface="Palatino Linotype" pitchFamily="18" charset="0"/>
                  </a:rPr>
                  <a:t>, we have</a:t>
                </a:r>
              </a:p>
              <a:p>
                <a:pPr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Palatino Linotype" pitchFamily="18" charset="0"/>
                </a:endParaRPr>
              </a:p>
            </p:txBody>
          </p:sp>
        </mc:Choice>
        <mc:Fallback>
          <p:sp>
            <p:nvSpPr>
              <p:cNvPr id="4102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809750"/>
                <a:ext cx="8305800" cy="3032305"/>
              </a:xfrm>
              <a:prstGeom prst="rect">
                <a:avLst/>
              </a:prstGeom>
              <a:blipFill rotWithShape="0">
                <a:blip r:embed="rId3"/>
                <a:stretch>
                  <a:fillRect l="-1013" t="-1341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58403" name="Text Box 3"/>
              <p:cNvSpPr txBox="1">
                <a:spLocks noChangeArrowheads="1"/>
              </p:cNvSpPr>
              <p:nvPr/>
            </p:nvSpPr>
            <p:spPr bwMode="auto">
              <a:xfrm>
                <a:off x="457200" y="1292344"/>
                <a:ext cx="8382000" cy="2063514"/>
              </a:xfrm>
              <a:prstGeom prst="rect">
                <a:avLst/>
              </a:prstGeom>
              <a:solidFill>
                <a:srgbClr val="DDDDFF"/>
              </a:solid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 wrap="square" anchor="ctr" anchorCtr="0">
                <a:spAutoFit/>
              </a:bodyPr>
              <a:lstStyle/>
              <a:p>
                <a:pPr>
                  <a:defRPr/>
                </a:pPr>
                <a:r>
                  <a:rPr lang="en-US" dirty="0" smtClean="0">
                    <a:latin typeface="Palatino Linotype" pitchFamily="18" charset="0"/>
                  </a:rPr>
                  <a:t>Theorem 2. </a:t>
                </a:r>
                <a:r>
                  <a:rPr lang="en-US" b="1" dirty="0" smtClean="0">
                    <a:latin typeface="Palatino Linotype" pitchFamily="18" charset="0"/>
                  </a:rPr>
                  <a:t>Integration Using the Path</a:t>
                </a:r>
              </a:p>
              <a:p>
                <a:pPr>
                  <a:defRPr/>
                </a:pPr>
                <a:r>
                  <a:rPr lang="en-US" dirty="0" smtClean="0">
                    <a:latin typeface="Palatino Linotype" pitchFamily="18" charset="0"/>
                  </a:rPr>
                  <a:t>Let </a:t>
                </a:r>
                <a:r>
                  <a:rPr lang="en-US" i="1" dirty="0" smtClean="0">
                    <a:latin typeface="Palatino Linotype" pitchFamily="18" charset="0"/>
                  </a:rPr>
                  <a:t>C</a:t>
                </a:r>
                <a:r>
                  <a:rPr lang="en-US" dirty="0" smtClean="0">
                    <a:latin typeface="Palatino Linotype" pitchFamily="18" charset="0"/>
                  </a:rPr>
                  <a:t> be a piecewise smooth path represented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>
                    <a:latin typeface="Palatino Linotype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 smtClean="0">
                    <a:latin typeface="Palatino Linotype" pitchFamily="18" charset="0"/>
                  </a:rPr>
                  <a:t>. 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>
                    <a:latin typeface="Palatino Linotype" pitchFamily="18" charset="0"/>
                  </a:rPr>
                  <a:t> be continuous on </a:t>
                </a:r>
                <a:r>
                  <a:rPr lang="en-US" i="1" dirty="0" smtClean="0">
                    <a:latin typeface="Palatino Linotype" pitchFamily="18" charset="0"/>
                  </a:rPr>
                  <a:t>C</a:t>
                </a:r>
                <a:r>
                  <a:rPr lang="en-US" dirty="0" smtClean="0">
                    <a:latin typeface="Palatino Linotype" pitchFamily="18" charset="0"/>
                  </a:rPr>
                  <a:t>. Then</a:t>
                </a: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latin typeface="Palatino Linotype" pitchFamily="18" charset="0"/>
                </a:endParaRPr>
              </a:p>
            </p:txBody>
          </p:sp>
        </mc:Choice>
        <mc:Fallback>
          <p:sp>
            <p:nvSpPr>
              <p:cNvPr id="358403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292344"/>
                <a:ext cx="8382000" cy="2063514"/>
              </a:xfrm>
              <a:prstGeom prst="rect">
                <a:avLst/>
              </a:prstGeom>
              <a:blipFill rotWithShape="0">
                <a:blip r:embed="rId3"/>
                <a:stretch>
                  <a:fillRect l="-1004" t="-1374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5" name="Text Box 3"/>
          <p:cNvSpPr txBox="1">
            <a:spLocks noChangeArrowheads="1"/>
          </p:cNvSpPr>
          <p:nvPr/>
        </p:nvSpPr>
        <p:spPr bwMode="auto">
          <a:xfrm>
            <a:off x="457200" y="152400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1" dirty="0">
                <a:solidFill>
                  <a:srgbClr val="0099CC"/>
                </a:solidFill>
                <a:latin typeface="Arial" panose="020B0604020202020204" pitchFamily="34" charset="0"/>
              </a:rPr>
              <a:t>EXAMPLE</a:t>
            </a:r>
            <a:r>
              <a:rPr lang="en-US" altLang="en-US" b="1" dirty="0">
                <a:solidFill>
                  <a:srgbClr val="0099CC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 smtClean="0">
                <a:solidFill>
                  <a:srgbClr val="0099CC"/>
                </a:solidFill>
                <a:latin typeface="Arial" panose="020B0604020202020204" pitchFamily="34" charset="0"/>
              </a:rPr>
              <a:t>2</a:t>
            </a:r>
            <a:endParaRPr lang="en-US" altLang="en-US" b="1" dirty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6356" name="Text Box 4"/>
              <p:cNvSpPr txBox="1">
                <a:spLocks noChangeArrowheads="1"/>
              </p:cNvSpPr>
              <p:nvPr/>
            </p:nvSpPr>
            <p:spPr bwMode="auto">
              <a:xfrm>
                <a:off x="457200" y="584200"/>
                <a:ext cx="8305800" cy="2837380"/>
              </a:xfrm>
              <a:prstGeom prst="rect">
                <a:avLst/>
              </a:prstGeom>
              <a:noFill/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Let </a:t>
                </a:r>
                <a:r>
                  <a:rPr lang="en-US" altLang="en-US" sz="2000" i="1" dirty="0" smtClean="0">
                    <a:latin typeface="Palatino Linotype" panose="02040502050505030304" pitchFamily="18" charset="0"/>
                  </a:rPr>
                  <a:t>C</a:t>
                </a:r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 be the unit circle, oriented counterclockwise. Find</a:t>
                </a:r>
              </a:p>
              <a:p>
                <a:pPr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den>
                          </m:f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en-US" sz="2000" dirty="0">
                  <a:latin typeface="Palatino Linotype" panose="02040502050505030304" pitchFamily="18" charset="0"/>
                </a:endParaRPr>
              </a:p>
              <a:p>
                <a:pPr eaLnBrk="1" hangingPunct="1"/>
                <a:endParaRPr lang="en-US" altLang="en-US" sz="2000" dirty="0">
                  <a:latin typeface="Palatino Linotype" panose="02040502050505030304" pitchFamily="18" charset="0"/>
                </a:endParaRPr>
              </a:p>
              <a:p>
                <a:pPr marL="457200" indent="-457200" eaLnBrk="1" hangingPunct="1">
                  <a:buFont typeface="+mj-lt"/>
                  <a:buAutoNum type="arabicPeriod"/>
                </a:pPr>
                <a:r>
                  <a:rPr lang="en-US" altLang="en-US" sz="2000" dirty="0" smtClean="0"/>
                  <a:t>Here,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)=1/</m:t>
                    </m:r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altLang="en-US" sz="2000" dirty="0" smtClean="0">
                  <a:latin typeface="Palatino Linotype" panose="02040502050505030304" pitchFamily="18" charset="0"/>
                </a:endParaRPr>
              </a:p>
              <a:p>
                <a:pPr marL="457200" indent="-457200" eaLnBrk="1" hangingPunct="1">
                  <a:buFont typeface="+mj-lt"/>
                  <a:buAutoNum type="arabicPeriod"/>
                </a:pPr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On </a:t>
                </a:r>
                <a:r>
                  <a:rPr lang="en-US" altLang="en-US" sz="2000" i="1" dirty="0" smtClean="0">
                    <a:latin typeface="Palatino Linotype" panose="02040502050505030304" pitchFamily="18" charset="0"/>
                  </a:rPr>
                  <a:t>C</a:t>
                </a:r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</m:sup>
                    </m:sSup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, 0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 </a:t>
                </a:r>
              </a:p>
              <a:p>
                <a:pPr marL="457200" indent="-457200" eaLnBrk="1" hangingPunct="1">
                  <a:buFont typeface="+mj-lt"/>
                  <a:buAutoNum type="arabicPeriod"/>
                </a:pPr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</m:sup>
                    </m:sSup>
                  </m:oMath>
                </a14:m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.</a:t>
                </a:r>
              </a:p>
              <a:p>
                <a:pPr marL="457200" indent="-457200" eaLnBrk="1" hangingPunct="1">
                  <a:buFont typeface="+mj-lt"/>
                  <a:buAutoNum type="arabicPeriod"/>
                </a:pPr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By Theorem 2,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en-US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𝑑𝑧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en-US" sz="20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en-US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en-US" sz="2000" b="0" i="1" smtClean="0">
                                    <a:latin typeface="Cambria Math" panose="02040503050406030204" pitchFamily="18" charset="0"/>
                                  </a:rPr>
                                  <m:t>𝑖𝑡</m:t>
                                </m:r>
                              </m:sup>
                            </m:sSup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p>
                              <m:sSupPr>
                                <m:ctrlPr>
                                  <a:rPr lang="en-US" alt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en-US" sz="20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en-US" sz="2000" b="0" i="1" smtClean="0">
                                    <a:latin typeface="Cambria Math" panose="02040503050406030204" pitchFamily="18" charset="0"/>
                                  </a:rPr>
                                  <m:t>𝑖𝑡</m:t>
                                </m:r>
                              </m:sup>
                            </m:sSup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nary>
                              <m:naryPr>
                                <m:ctrlPr>
                                  <a:rPr lang="en-US" alt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sup>
                              <m:e>
                                <m:r>
                                  <a:rPr lang="en-US" altLang="en-US" sz="2000" b="0" i="1" smtClean="0">
                                    <a:latin typeface="Cambria Math" panose="02040503050406030204" pitchFamily="18" charset="0"/>
                                  </a:rPr>
                                  <m:t>𝑖𝑑𝑡</m:t>
                                </m:r>
                                <m:r>
                                  <a:rPr lang="en-US" altLang="en-US" sz="2000" b="0" i="1" smtClean="0"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  <m:r>
                                  <a:rPr lang="en-US" alt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alt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nary>
                          </m:e>
                        </m:nary>
                      </m:e>
                    </m:nary>
                  </m:oMath>
                </a14:m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.</a:t>
                </a:r>
                <a:endParaRPr lang="en-US" altLang="en-US" sz="2000" dirty="0">
                  <a:latin typeface="Palatino Linotype" panose="02040502050505030304" pitchFamily="18" charset="0"/>
                </a:endParaRPr>
              </a:p>
            </p:txBody>
          </p:sp>
        </mc:Choice>
        <mc:Fallback>
          <p:sp>
            <p:nvSpPr>
              <p:cNvPr id="35635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584200"/>
                <a:ext cx="8305800" cy="2837380"/>
              </a:xfrm>
              <a:prstGeom prst="rect">
                <a:avLst/>
              </a:prstGeom>
              <a:blipFill rotWithShape="0">
                <a:blip r:embed="rId3"/>
                <a:stretch>
                  <a:fillRect l="-952" t="-1071" b="-1713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6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56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56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563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563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914400" y="2286000"/>
            <a:ext cx="7467600" cy="1200329"/>
          </a:xfrm>
          <a:prstGeom prst="rect">
            <a:avLst/>
          </a:prstGeom>
          <a:solidFill>
            <a:srgbClr val="DDDDFF"/>
          </a:solidFill>
          <a:ln w="9525">
            <a:solidFill>
              <a:srgbClr val="0099CC"/>
            </a:solidFill>
            <a:miter lim="800000"/>
            <a:headEnd/>
            <a:tailEnd/>
          </a:ln>
          <a:effectLst>
            <a:outerShdw dist="172739" dir="3238358" algn="ctr" rotWithShape="0">
              <a:schemeClr val="folHlink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dirty="0">
              <a:latin typeface="Palatino Linotype" pitchFamily="18" charset="0"/>
            </a:endParaRPr>
          </a:p>
          <a:p>
            <a:pPr algn="ctr">
              <a:defRPr/>
            </a:pPr>
            <a:r>
              <a:rPr lang="en-US" sz="4800" b="1" dirty="0" smtClean="0">
                <a:solidFill>
                  <a:srgbClr val="33CCCC"/>
                </a:solidFill>
                <a:latin typeface="Arial" charset="0"/>
              </a:rPr>
              <a:t>14.2</a:t>
            </a:r>
            <a:r>
              <a:rPr lang="en-US" sz="3600" b="1" dirty="0" smtClean="0">
                <a:solidFill>
                  <a:srgbClr val="CC3300"/>
                </a:solidFill>
                <a:latin typeface="Arial" charset="0"/>
              </a:rPr>
              <a:t>  </a:t>
            </a:r>
            <a:r>
              <a:rPr lang="en-US" sz="2800" b="1" dirty="0" smtClean="0">
                <a:solidFill>
                  <a:srgbClr val="009999"/>
                </a:solidFill>
                <a:latin typeface="Arial" charset="0"/>
              </a:rPr>
              <a:t>Cauchy’s Integral Theorem</a:t>
            </a:r>
            <a:endParaRPr lang="en-US" sz="2800" b="1" dirty="0">
              <a:solidFill>
                <a:srgbClr val="009999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259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58403" name="Text Box 3"/>
              <p:cNvSpPr txBox="1">
                <a:spLocks noChangeArrowheads="1"/>
              </p:cNvSpPr>
              <p:nvPr/>
            </p:nvSpPr>
            <p:spPr bwMode="auto">
              <a:xfrm>
                <a:off x="457200" y="1292344"/>
                <a:ext cx="8382000" cy="2063514"/>
              </a:xfrm>
              <a:prstGeom prst="rect">
                <a:avLst/>
              </a:prstGeom>
              <a:solidFill>
                <a:srgbClr val="DDDDFF"/>
              </a:solid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 wrap="square" anchor="ctr" anchorCtr="0">
                <a:spAutoFit/>
              </a:bodyPr>
              <a:lstStyle/>
              <a:p>
                <a:pPr>
                  <a:defRPr/>
                </a:pPr>
                <a:r>
                  <a:rPr lang="en-US" dirty="0" smtClean="0">
                    <a:latin typeface="Palatino Linotype" pitchFamily="18" charset="0"/>
                  </a:rPr>
                  <a:t>Theorem 1. </a:t>
                </a:r>
                <a:r>
                  <a:rPr lang="en-US" b="1" dirty="0" smtClean="0">
                    <a:latin typeface="Palatino Linotype" pitchFamily="18" charset="0"/>
                  </a:rPr>
                  <a:t>Cauchy’s Integral Theorem</a:t>
                </a:r>
              </a:p>
              <a:p>
                <a:pPr>
                  <a:defRPr/>
                </a:pPr>
                <a:r>
                  <a:rPr lang="en-US" dirty="0" smtClean="0">
                    <a:latin typeface="Palatino Linotype" pitchFamily="18" charset="0"/>
                  </a:rPr>
                  <a:t>If </a:t>
                </a:r>
                <a:r>
                  <a:rPr lang="en-US" i="1" dirty="0" smtClean="0">
                    <a:latin typeface="Palatino Linotype" pitchFamily="18" charset="0"/>
                  </a:rPr>
                  <a:t>f(z)</a:t>
                </a:r>
                <a:r>
                  <a:rPr lang="en-US" dirty="0" smtClean="0">
                    <a:latin typeface="Palatino Linotype" pitchFamily="18" charset="0"/>
                  </a:rPr>
                  <a:t> is analytic in a simply connected domain </a:t>
                </a:r>
                <a:r>
                  <a:rPr lang="en-US" i="1" dirty="0" smtClean="0">
                    <a:latin typeface="Palatino Linotype" pitchFamily="18" charset="0"/>
                  </a:rPr>
                  <a:t>D</a:t>
                </a:r>
                <a:r>
                  <a:rPr lang="en-US" dirty="0" smtClean="0">
                    <a:latin typeface="Palatino Linotype" pitchFamily="18" charset="0"/>
                  </a:rPr>
                  <a:t>, then for every simple closed path </a:t>
                </a:r>
                <a:r>
                  <a:rPr lang="en-US" i="1" dirty="0" smtClean="0">
                    <a:latin typeface="Palatino Linotype" pitchFamily="18" charset="0"/>
                  </a:rPr>
                  <a:t>C</a:t>
                </a:r>
                <a:r>
                  <a:rPr lang="en-US" dirty="0" smtClean="0">
                    <a:latin typeface="Palatino Linotype" pitchFamily="18" charset="0"/>
                  </a:rPr>
                  <a:t> in </a:t>
                </a:r>
                <a:r>
                  <a:rPr lang="en-US" i="1" dirty="0" smtClean="0">
                    <a:latin typeface="Palatino Linotype" pitchFamily="18" charset="0"/>
                  </a:rPr>
                  <a:t>D</a:t>
                </a:r>
                <a:r>
                  <a:rPr lang="en-US" dirty="0" smtClean="0">
                    <a:latin typeface="Palatino Linotype" pitchFamily="18" charset="0"/>
                  </a:rPr>
                  <a:t>, </a:t>
                </a: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Palatino Linotype" pitchFamily="18" charset="0"/>
                </a:endParaRPr>
              </a:p>
            </p:txBody>
          </p:sp>
        </mc:Choice>
        <mc:Fallback>
          <p:sp>
            <p:nvSpPr>
              <p:cNvPr id="358403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292344"/>
                <a:ext cx="8382000" cy="2063514"/>
              </a:xfrm>
              <a:prstGeom prst="rect">
                <a:avLst/>
              </a:prstGeom>
              <a:blipFill rotWithShape="0">
                <a:blip r:embed="rId3"/>
                <a:stretch>
                  <a:fillRect l="-1004" t="-1374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63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5" name="Text Box 3"/>
          <p:cNvSpPr txBox="1">
            <a:spLocks noChangeArrowheads="1"/>
          </p:cNvSpPr>
          <p:nvPr/>
        </p:nvSpPr>
        <p:spPr bwMode="auto">
          <a:xfrm>
            <a:off x="457200" y="152400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1" dirty="0">
                <a:solidFill>
                  <a:srgbClr val="0099CC"/>
                </a:solidFill>
                <a:latin typeface="Arial" panose="020B0604020202020204" pitchFamily="34" charset="0"/>
              </a:rPr>
              <a:t>EXAMPLE</a:t>
            </a:r>
            <a:r>
              <a:rPr lang="en-US" altLang="en-US" b="1" dirty="0">
                <a:solidFill>
                  <a:srgbClr val="0099CC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 smtClean="0">
                <a:solidFill>
                  <a:srgbClr val="0099CC"/>
                </a:solidFill>
                <a:latin typeface="Arial" panose="020B0604020202020204" pitchFamily="34" charset="0"/>
              </a:rPr>
              <a:t>1</a:t>
            </a:r>
            <a:endParaRPr lang="en-US" altLang="en-US" b="1" dirty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6356" name="Text Box 4"/>
              <p:cNvSpPr txBox="1">
                <a:spLocks noChangeArrowheads="1"/>
              </p:cNvSpPr>
              <p:nvPr/>
            </p:nvSpPr>
            <p:spPr bwMode="auto">
              <a:xfrm>
                <a:off x="457200" y="584200"/>
                <a:ext cx="8305800" cy="1735090"/>
              </a:xfrm>
              <a:prstGeom prst="rect">
                <a:avLst/>
              </a:prstGeom>
              <a:noFill/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Let </a:t>
                </a:r>
                <a:r>
                  <a:rPr lang="en-US" altLang="en-US" sz="2000" i="1" dirty="0" smtClean="0">
                    <a:latin typeface="Palatino Linotype" panose="02040502050505030304" pitchFamily="18" charset="0"/>
                  </a:rPr>
                  <a:t>C</a:t>
                </a:r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 be any closed path. Then</a:t>
                </a: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nary>
                        <m:naryPr>
                          <m:chr m:val="∮"/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en-US" sz="200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func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nary>
                            <m:naryPr>
                              <m:chr m:val="∮"/>
                              <m:ctrlPr>
                                <a:rPr lang="en-US" alt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𝑑𝑧</m:t>
                              </m:r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=0,1…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en-US" sz="2000" dirty="0" smtClean="0">
                  <a:latin typeface="Palatino Linotype" panose="02040502050505030304" pitchFamily="18" charset="0"/>
                </a:endParaRPr>
              </a:p>
              <a:p>
                <a:pPr eaLnBrk="1" hangingPunct="1"/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are all 0 for any closed path C since these functions are all analytic for all </a:t>
                </a:r>
                <a:r>
                  <a:rPr lang="en-US" altLang="en-US" sz="2000" i="1" dirty="0" smtClean="0">
                    <a:latin typeface="Palatino Linotype" panose="02040502050505030304" pitchFamily="18" charset="0"/>
                  </a:rPr>
                  <a:t>z</a:t>
                </a:r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.</a:t>
                </a:r>
                <a:endParaRPr lang="en-US" altLang="en-US" sz="2000" dirty="0">
                  <a:latin typeface="Palatino Linotype" panose="02040502050505030304" pitchFamily="18" charset="0"/>
                </a:endParaRPr>
              </a:p>
            </p:txBody>
          </p:sp>
        </mc:Choice>
        <mc:Fallback>
          <p:sp>
            <p:nvSpPr>
              <p:cNvPr id="35635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584200"/>
                <a:ext cx="8305800" cy="1735090"/>
              </a:xfrm>
              <a:prstGeom prst="rect">
                <a:avLst/>
              </a:prstGeom>
              <a:blipFill rotWithShape="0">
                <a:blip r:embed="rId3"/>
                <a:stretch>
                  <a:fillRect l="-659" t="-1748" b="-5245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8460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6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56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914400" y="2286000"/>
            <a:ext cx="7467600" cy="1200329"/>
          </a:xfrm>
          <a:prstGeom prst="rect">
            <a:avLst/>
          </a:prstGeom>
          <a:solidFill>
            <a:srgbClr val="DDDDFF"/>
          </a:solidFill>
          <a:ln w="9525">
            <a:solidFill>
              <a:srgbClr val="0099CC"/>
            </a:solidFill>
            <a:miter lim="800000"/>
            <a:headEnd/>
            <a:tailEnd/>
          </a:ln>
          <a:effectLst>
            <a:outerShdw dist="172739" dir="3238358" algn="ctr" rotWithShape="0">
              <a:schemeClr val="folHlink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dirty="0">
              <a:latin typeface="Palatino Linotype" pitchFamily="18" charset="0"/>
            </a:endParaRPr>
          </a:p>
          <a:p>
            <a:pPr algn="ctr">
              <a:defRPr/>
            </a:pPr>
            <a:r>
              <a:rPr lang="en-US" sz="4800" b="1" dirty="0" smtClean="0">
                <a:solidFill>
                  <a:srgbClr val="33CCCC"/>
                </a:solidFill>
                <a:latin typeface="Arial" charset="0"/>
              </a:rPr>
              <a:t>14.3</a:t>
            </a:r>
            <a:r>
              <a:rPr lang="en-US" sz="3600" b="1" dirty="0" smtClean="0">
                <a:solidFill>
                  <a:srgbClr val="CC3300"/>
                </a:solidFill>
                <a:latin typeface="Arial" charset="0"/>
              </a:rPr>
              <a:t>  </a:t>
            </a:r>
            <a:r>
              <a:rPr lang="en-US" sz="2800" b="1" dirty="0" smtClean="0">
                <a:solidFill>
                  <a:srgbClr val="009999"/>
                </a:solidFill>
                <a:latin typeface="Arial" charset="0"/>
              </a:rPr>
              <a:t>Cauchy’s Integral Formula</a:t>
            </a:r>
            <a:endParaRPr lang="en-US" sz="2800" b="1" dirty="0">
              <a:solidFill>
                <a:srgbClr val="009999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705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58403" name="Text Box 3"/>
              <p:cNvSpPr txBox="1">
                <a:spLocks noChangeArrowheads="1"/>
              </p:cNvSpPr>
              <p:nvPr/>
            </p:nvSpPr>
            <p:spPr bwMode="auto">
              <a:xfrm>
                <a:off x="457200" y="122089"/>
                <a:ext cx="8382000" cy="4404026"/>
              </a:xfrm>
              <a:prstGeom prst="rect">
                <a:avLst/>
              </a:prstGeom>
              <a:solidFill>
                <a:srgbClr val="DDDDFF"/>
              </a:solid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 wrap="square" anchor="ctr" anchorCtr="0">
                <a:spAutoFit/>
              </a:bodyPr>
              <a:lstStyle/>
              <a:p>
                <a:pPr>
                  <a:defRPr/>
                </a:pPr>
                <a:r>
                  <a:rPr lang="en-US" dirty="0" smtClean="0">
                    <a:latin typeface="Palatino Linotype" pitchFamily="18" charset="0"/>
                  </a:rPr>
                  <a:t>Theorem 1. </a:t>
                </a:r>
                <a:r>
                  <a:rPr lang="en-US" b="1" dirty="0" smtClean="0">
                    <a:latin typeface="Palatino Linotype" pitchFamily="18" charset="0"/>
                  </a:rPr>
                  <a:t>Cauchy’s Integral Formula</a:t>
                </a:r>
              </a:p>
              <a:p>
                <a:pPr>
                  <a:defRPr/>
                </a:pPr>
                <a:r>
                  <a:rPr lang="en-US" dirty="0" smtClean="0">
                    <a:latin typeface="Palatino Linotype" pitchFamily="18" charset="0"/>
                  </a:rPr>
                  <a:t>Let </a:t>
                </a:r>
                <a:r>
                  <a:rPr lang="en-US" i="1" dirty="0" smtClean="0">
                    <a:latin typeface="Palatino Linotype" pitchFamily="18" charset="0"/>
                  </a:rPr>
                  <a:t>f(z)</a:t>
                </a:r>
                <a:r>
                  <a:rPr lang="en-US" dirty="0" smtClean="0">
                    <a:latin typeface="Palatino Linotype" pitchFamily="18" charset="0"/>
                  </a:rPr>
                  <a:t> be analytic in a simply connected domain </a:t>
                </a:r>
                <a:r>
                  <a:rPr lang="en-US" i="1" dirty="0" smtClean="0">
                    <a:latin typeface="Palatino Linotype" pitchFamily="18" charset="0"/>
                  </a:rPr>
                  <a:t>D</a:t>
                </a:r>
                <a:r>
                  <a:rPr lang="en-US" dirty="0">
                    <a:latin typeface="Palatino Linotype" pitchFamily="18" charset="0"/>
                  </a:rPr>
                  <a:t>.</a:t>
                </a:r>
                <a:r>
                  <a:rPr lang="en-US" dirty="0" smtClean="0">
                    <a:latin typeface="Palatino Linotype" pitchFamily="18" charset="0"/>
                  </a:rPr>
                  <a:t> Then for any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>
                    <a:latin typeface="Palatino Linotype" pitchFamily="18" charset="0"/>
                  </a:rPr>
                  <a:t> in </a:t>
                </a:r>
                <a:r>
                  <a:rPr lang="en-US" i="1" dirty="0" smtClean="0">
                    <a:latin typeface="Palatino Linotype" pitchFamily="18" charset="0"/>
                  </a:rPr>
                  <a:t>D</a:t>
                </a:r>
                <a:r>
                  <a:rPr lang="en-US" dirty="0" smtClean="0">
                    <a:latin typeface="Palatino Linotype" pitchFamily="18" charset="0"/>
                  </a:rPr>
                  <a:t>, and any simple closed path </a:t>
                </a:r>
                <a:r>
                  <a:rPr lang="en-US" i="1" dirty="0" smtClean="0">
                    <a:latin typeface="Palatino Linotype" pitchFamily="18" charset="0"/>
                  </a:rPr>
                  <a:t>C</a:t>
                </a:r>
                <a:r>
                  <a:rPr lang="en-US" dirty="0" smtClean="0">
                    <a:latin typeface="Palatino Linotype" pitchFamily="18" charset="0"/>
                  </a:rPr>
                  <a:t> in </a:t>
                </a:r>
                <a:r>
                  <a:rPr lang="en-US" i="1" dirty="0" smtClean="0">
                    <a:latin typeface="Palatino Linotype" pitchFamily="18" charset="0"/>
                  </a:rPr>
                  <a:t>D</a:t>
                </a:r>
                <a:r>
                  <a:rPr lang="en-US" dirty="0" smtClean="0">
                    <a:latin typeface="Palatino Linotype" pitchFamily="18" charset="0"/>
                  </a:rPr>
                  <a:t> that encloses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>
                    <a:latin typeface="Palatino Linotype" pitchFamily="18" charset="0"/>
                  </a:rPr>
                  <a:t>,</a:t>
                </a: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Palatino Linotype" pitchFamily="18" charset="0"/>
                </a:endParaRPr>
              </a:p>
              <a:p>
                <a:pPr>
                  <a:defRPr/>
                </a:pPr>
                <a:endParaRPr lang="en-US" dirty="0" smtClean="0">
                  <a:latin typeface="Palatino Linotype" pitchFamily="18" charset="0"/>
                </a:endParaRPr>
              </a:p>
              <a:p>
                <a:pPr>
                  <a:defRPr/>
                </a:pPr>
                <a:r>
                  <a:rPr lang="en-US" dirty="0" smtClean="0">
                    <a:latin typeface="Palatino Linotype" pitchFamily="18" charset="0"/>
                  </a:rPr>
                  <a:t>or, equivalently,</a:t>
                </a: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  <m:nary>
                        <m:naryPr>
                          <m:chr m:val="∮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Palatino Linotype" pitchFamily="18" charset="0"/>
                </a:endParaRPr>
              </a:p>
              <a:p>
                <a:pPr>
                  <a:defRPr/>
                </a:pPr>
                <a:endParaRPr lang="en-US" dirty="0">
                  <a:latin typeface="Palatino Linotype" pitchFamily="18" charset="0"/>
                </a:endParaRPr>
              </a:p>
            </p:txBody>
          </p:sp>
        </mc:Choice>
        <mc:Fallback>
          <p:sp>
            <p:nvSpPr>
              <p:cNvPr id="358403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22089"/>
                <a:ext cx="8382000" cy="4404026"/>
              </a:xfrm>
              <a:prstGeom prst="rect">
                <a:avLst/>
              </a:prstGeom>
              <a:blipFill rotWithShape="0">
                <a:blip r:embed="rId3"/>
                <a:stretch>
                  <a:fillRect l="-991" t="-402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688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58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58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5" name="Text Box 3"/>
          <p:cNvSpPr txBox="1">
            <a:spLocks noChangeArrowheads="1"/>
          </p:cNvSpPr>
          <p:nvPr/>
        </p:nvSpPr>
        <p:spPr bwMode="auto">
          <a:xfrm>
            <a:off x="457200" y="152400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1" dirty="0">
                <a:solidFill>
                  <a:srgbClr val="0099CC"/>
                </a:solidFill>
                <a:latin typeface="Arial" panose="020B0604020202020204" pitchFamily="34" charset="0"/>
              </a:rPr>
              <a:t>EXAMPLE</a:t>
            </a:r>
            <a:r>
              <a:rPr lang="en-US" altLang="en-US" b="1" dirty="0">
                <a:solidFill>
                  <a:srgbClr val="0099CC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 smtClean="0">
                <a:solidFill>
                  <a:srgbClr val="0099CC"/>
                </a:solidFill>
                <a:latin typeface="Arial" panose="020B0604020202020204" pitchFamily="34" charset="0"/>
              </a:rPr>
              <a:t>1</a:t>
            </a:r>
            <a:endParaRPr lang="en-US" altLang="en-US" b="1" dirty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6356" name="Text Box 4"/>
              <p:cNvSpPr txBox="1">
                <a:spLocks noChangeArrowheads="1"/>
              </p:cNvSpPr>
              <p:nvPr/>
            </p:nvSpPr>
            <p:spPr bwMode="auto">
              <a:xfrm>
                <a:off x="457200" y="584200"/>
                <a:ext cx="8305800" cy="1735090"/>
              </a:xfrm>
              <a:prstGeom prst="rect">
                <a:avLst/>
              </a:prstGeom>
              <a:noFill/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Let </a:t>
                </a:r>
                <a:r>
                  <a:rPr lang="en-US" altLang="en-US" sz="2000" i="1" dirty="0" smtClean="0">
                    <a:latin typeface="Palatino Linotype" panose="02040502050505030304" pitchFamily="18" charset="0"/>
                  </a:rPr>
                  <a:t>C</a:t>
                </a:r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 be a contour enclosing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. Then by the Cauchy Integral Formula,</a:t>
                </a: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den>
                          </m:f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US" alt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sSup>
                                    <m:sSupPr>
                                      <m:ctrlPr>
                                        <a:rPr lang="en-US" alt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b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=2</m:t>
                              </m:r>
                            </m:sub>
                          </m:sSub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=2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sSup>
                            <m:sSupPr>
                              <m:ctrlPr>
                                <a:rPr lang="en-US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en-US" sz="2000" dirty="0" smtClean="0">
                  <a:latin typeface="Palatino Linotype" panose="02040502050505030304" pitchFamily="18" charset="0"/>
                </a:endParaRPr>
              </a:p>
              <a:p>
                <a:pPr eaLnBrk="1" hangingPunct="1"/>
                <a:endParaRPr lang="en-US" altLang="en-US" sz="2000" dirty="0">
                  <a:latin typeface="Palatino Linotype" panose="02040502050505030304" pitchFamily="18" charset="0"/>
                </a:endParaRPr>
              </a:p>
            </p:txBody>
          </p:sp>
        </mc:Choice>
        <mc:Fallback>
          <p:sp>
            <p:nvSpPr>
              <p:cNvPr id="35635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584200"/>
                <a:ext cx="8305800" cy="1735090"/>
              </a:xfrm>
              <a:prstGeom prst="rect">
                <a:avLst/>
              </a:prstGeom>
              <a:blipFill rotWithShape="0">
                <a:blip r:embed="rId3"/>
                <a:stretch>
                  <a:fillRect l="-659" t="-1748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8591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6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3" name="Text Box 3"/>
          <p:cNvSpPr txBox="1">
            <a:spLocks noChangeArrowheads="1"/>
          </p:cNvSpPr>
          <p:nvPr/>
        </p:nvSpPr>
        <p:spPr bwMode="auto">
          <a:xfrm>
            <a:off x="457200" y="1539272"/>
            <a:ext cx="8382000" cy="1569660"/>
          </a:xfrm>
          <a:prstGeom prst="rect">
            <a:avLst/>
          </a:prstGeom>
          <a:solidFill>
            <a:srgbClr val="DDDDFF"/>
          </a:solidFill>
          <a:ln w="9525">
            <a:solidFill>
              <a:srgbClr val="0099CC"/>
            </a:solidFill>
            <a:miter lim="800000"/>
            <a:headEnd/>
            <a:tailEnd/>
          </a:ln>
          <a:effectLst>
            <a:outerShdw dist="172739" dir="3238358" algn="ctr" rotWithShape="0">
              <a:schemeClr val="folHlink">
                <a:alpha val="50000"/>
              </a:schemeClr>
            </a:outerShdw>
          </a:effectLst>
        </p:spPr>
        <p:txBody>
          <a:bodyPr wrap="square" anchor="ctr" anchorCtr="0">
            <a:spAutoFit/>
          </a:bodyPr>
          <a:lstStyle/>
          <a:p>
            <a:pPr>
              <a:defRPr/>
            </a:pPr>
            <a:r>
              <a:rPr lang="en-US" dirty="0" smtClean="0">
                <a:latin typeface="Palatino Linotype" pitchFamily="18" charset="0"/>
              </a:rPr>
              <a:t>Theorem 2. </a:t>
            </a:r>
            <a:r>
              <a:rPr lang="en-US" b="1" dirty="0" smtClean="0">
                <a:latin typeface="Palatino Linotype" pitchFamily="18" charset="0"/>
              </a:rPr>
              <a:t>Independence of Path</a:t>
            </a:r>
          </a:p>
          <a:p>
            <a:pPr>
              <a:defRPr/>
            </a:pPr>
            <a:r>
              <a:rPr lang="en-US" dirty="0" smtClean="0">
                <a:latin typeface="Palatino Linotype" pitchFamily="18" charset="0"/>
              </a:rPr>
              <a:t>If </a:t>
            </a:r>
            <a:r>
              <a:rPr lang="en-US" i="1" dirty="0" smtClean="0">
                <a:latin typeface="Palatino Linotype" pitchFamily="18" charset="0"/>
              </a:rPr>
              <a:t>f(z)</a:t>
            </a:r>
            <a:r>
              <a:rPr lang="en-US" dirty="0" smtClean="0">
                <a:latin typeface="Palatino Linotype" pitchFamily="18" charset="0"/>
              </a:rPr>
              <a:t> is analytic in a simply connected domain </a:t>
            </a:r>
            <a:r>
              <a:rPr lang="en-US" i="1" dirty="0" smtClean="0">
                <a:latin typeface="Palatino Linotype" pitchFamily="18" charset="0"/>
              </a:rPr>
              <a:t>D</a:t>
            </a:r>
            <a:r>
              <a:rPr lang="en-US" dirty="0" smtClean="0">
                <a:latin typeface="Palatino Linotype" pitchFamily="18" charset="0"/>
              </a:rPr>
              <a:t>, then the integral of </a:t>
            </a:r>
            <a:r>
              <a:rPr lang="en-US" i="1" dirty="0" smtClean="0">
                <a:latin typeface="Palatino Linotype" pitchFamily="18" charset="0"/>
              </a:rPr>
              <a:t>f(z)</a:t>
            </a:r>
            <a:r>
              <a:rPr lang="en-US" dirty="0" smtClean="0">
                <a:latin typeface="Palatino Linotype" pitchFamily="18" charset="0"/>
              </a:rPr>
              <a:t> is independent of the path in </a:t>
            </a:r>
            <a:r>
              <a:rPr lang="en-US" i="1" dirty="0" smtClean="0">
                <a:latin typeface="Palatino Linotype" pitchFamily="18" charset="0"/>
              </a:rPr>
              <a:t>D</a:t>
            </a:r>
            <a:r>
              <a:rPr lang="en-US" dirty="0" smtClean="0">
                <a:latin typeface="Palatino Linotype" pitchFamily="18" charset="0"/>
              </a:rPr>
              <a:t>. </a:t>
            </a:r>
            <a:endParaRPr lang="en-US" dirty="0">
              <a:latin typeface="Palatino Linotype" pitchFamily="18" charset="0"/>
            </a:endParaRPr>
          </a:p>
          <a:p>
            <a:pPr>
              <a:defRPr/>
            </a:pPr>
            <a:endParaRPr lang="en-US" dirty="0">
              <a:latin typeface="Palatino Linotyp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120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914400" y="2286000"/>
            <a:ext cx="7467600" cy="1200329"/>
          </a:xfrm>
          <a:prstGeom prst="rect">
            <a:avLst/>
          </a:prstGeom>
          <a:solidFill>
            <a:srgbClr val="DDDDFF"/>
          </a:solidFill>
          <a:ln w="9525">
            <a:solidFill>
              <a:srgbClr val="0099CC"/>
            </a:solidFill>
            <a:miter lim="800000"/>
            <a:headEnd/>
            <a:tailEnd/>
          </a:ln>
          <a:effectLst>
            <a:outerShdw dist="172739" dir="3238358" algn="ctr" rotWithShape="0">
              <a:schemeClr val="folHlink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dirty="0">
              <a:latin typeface="Palatino Linotype" pitchFamily="18" charset="0"/>
            </a:endParaRPr>
          </a:p>
          <a:p>
            <a:pPr algn="ctr">
              <a:defRPr/>
            </a:pPr>
            <a:r>
              <a:rPr lang="en-US" sz="4800" b="1" dirty="0" smtClean="0">
                <a:solidFill>
                  <a:srgbClr val="33CCCC"/>
                </a:solidFill>
                <a:latin typeface="Arial" charset="0"/>
              </a:rPr>
              <a:t>14.4</a:t>
            </a:r>
            <a:r>
              <a:rPr lang="en-US" sz="3600" b="1" dirty="0" smtClean="0">
                <a:solidFill>
                  <a:srgbClr val="CC3300"/>
                </a:solidFill>
                <a:latin typeface="Arial" charset="0"/>
              </a:rPr>
              <a:t>  </a:t>
            </a:r>
            <a:r>
              <a:rPr lang="en-US" sz="2800" b="1" dirty="0" smtClean="0">
                <a:solidFill>
                  <a:srgbClr val="009999"/>
                </a:solidFill>
                <a:latin typeface="Arial" charset="0"/>
              </a:rPr>
              <a:t>Derivatives of Analytic Functions</a:t>
            </a:r>
            <a:endParaRPr lang="en-US" sz="2800" b="1" dirty="0">
              <a:solidFill>
                <a:srgbClr val="009999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756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58403" name="Text Box 3"/>
              <p:cNvSpPr txBox="1">
                <a:spLocks noChangeArrowheads="1"/>
              </p:cNvSpPr>
              <p:nvPr/>
            </p:nvSpPr>
            <p:spPr bwMode="auto">
              <a:xfrm>
                <a:off x="457200" y="553681"/>
                <a:ext cx="8382000" cy="3540841"/>
              </a:xfrm>
              <a:prstGeom prst="rect">
                <a:avLst/>
              </a:prstGeom>
              <a:solidFill>
                <a:srgbClr val="DDDDFF"/>
              </a:solid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 wrap="square" anchor="ctr" anchorCtr="0">
                <a:spAutoFit/>
              </a:bodyPr>
              <a:lstStyle/>
              <a:p>
                <a:pPr>
                  <a:defRPr/>
                </a:pPr>
                <a:r>
                  <a:rPr lang="en-US" dirty="0" smtClean="0">
                    <a:latin typeface="Palatino Linotype" pitchFamily="18" charset="0"/>
                  </a:rPr>
                  <a:t>Theorem 1. </a:t>
                </a:r>
                <a:r>
                  <a:rPr lang="en-US" b="1" dirty="0" smtClean="0">
                    <a:latin typeface="Palatino Linotype" pitchFamily="18" charset="0"/>
                  </a:rPr>
                  <a:t>Derivatives of Analytic Functions</a:t>
                </a:r>
              </a:p>
              <a:p>
                <a:pPr>
                  <a:defRPr/>
                </a:pPr>
                <a:r>
                  <a:rPr lang="en-US" dirty="0" smtClean="0">
                    <a:latin typeface="Palatino Linotype" pitchFamily="18" charset="0"/>
                  </a:rPr>
                  <a:t>If </a:t>
                </a:r>
                <a:r>
                  <a:rPr lang="en-US" i="1" dirty="0" smtClean="0">
                    <a:latin typeface="Palatino Linotype" pitchFamily="18" charset="0"/>
                  </a:rPr>
                  <a:t>f(z)</a:t>
                </a:r>
                <a:r>
                  <a:rPr lang="en-US" dirty="0" smtClean="0">
                    <a:latin typeface="Palatino Linotype" pitchFamily="18" charset="0"/>
                  </a:rPr>
                  <a:t> is analytic in a domain </a:t>
                </a:r>
                <a:r>
                  <a:rPr lang="en-US" i="1" dirty="0" smtClean="0">
                    <a:latin typeface="Palatino Linotype" pitchFamily="18" charset="0"/>
                  </a:rPr>
                  <a:t>D</a:t>
                </a:r>
                <a:r>
                  <a:rPr lang="en-US" dirty="0" smtClean="0">
                    <a:latin typeface="Palatino Linotype" pitchFamily="18" charset="0"/>
                  </a:rPr>
                  <a:t>, </a:t>
                </a:r>
                <a:r>
                  <a:rPr lang="en-US" dirty="0">
                    <a:latin typeface="Palatino Linotype" pitchFamily="18" charset="0"/>
                  </a:rPr>
                  <a:t>t</a:t>
                </a:r>
                <a:r>
                  <a:rPr lang="en-US" dirty="0" smtClean="0">
                    <a:latin typeface="Palatino Linotype" pitchFamily="18" charset="0"/>
                  </a:rPr>
                  <a:t>hen it has derivatives of all orders in </a:t>
                </a:r>
                <a:r>
                  <a:rPr lang="en-US" i="1" dirty="0" smtClean="0">
                    <a:latin typeface="Palatino Linotype" pitchFamily="18" charset="0"/>
                  </a:rPr>
                  <a:t>D</a:t>
                </a:r>
                <a:r>
                  <a:rPr lang="en-US" dirty="0" smtClean="0">
                    <a:latin typeface="Palatino Linotype" pitchFamily="18" charset="0"/>
                  </a:rPr>
                  <a:t> which are also analytic in </a:t>
                </a:r>
                <a:r>
                  <a:rPr lang="en-US" i="1" dirty="0" smtClean="0">
                    <a:latin typeface="Palatino Linotype" pitchFamily="18" charset="0"/>
                  </a:rPr>
                  <a:t>D</a:t>
                </a:r>
                <a:r>
                  <a:rPr lang="en-US" dirty="0" smtClean="0">
                    <a:latin typeface="Palatino Linotype" pitchFamily="18" charset="0"/>
                  </a:rPr>
                  <a:t> and</a:t>
                </a: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  <m:nary>
                        <m:naryPr>
                          <m:chr m:val="∮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=1,2,…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Palatino Linotype" pitchFamily="18" charset="0"/>
                </a:endParaRPr>
              </a:p>
              <a:p>
                <a:pPr>
                  <a:defRPr/>
                </a:pPr>
                <a:endParaRPr lang="en-US" dirty="0" smtClean="0">
                  <a:latin typeface="Palatino Linotype" pitchFamily="18" charset="0"/>
                </a:endParaRPr>
              </a:p>
              <a:p>
                <a:pPr>
                  <a:defRPr/>
                </a:pPr>
                <a:r>
                  <a:rPr lang="en-US" dirty="0">
                    <a:latin typeface="Palatino Linotype" pitchFamily="18" charset="0"/>
                  </a:rPr>
                  <a:t>w</a:t>
                </a:r>
                <a:r>
                  <a:rPr lang="en-US" dirty="0" smtClean="0">
                    <a:latin typeface="Palatino Linotype" pitchFamily="18" charset="0"/>
                  </a:rPr>
                  <a:t>here </a:t>
                </a:r>
                <a:r>
                  <a:rPr lang="en-US" i="1" dirty="0" smtClean="0">
                    <a:latin typeface="Palatino Linotype" pitchFamily="18" charset="0"/>
                  </a:rPr>
                  <a:t>C</a:t>
                </a:r>
                <a:r>
                  <a:rPr lang="en-US" dirty="0" smtClean="0">
                    <a:latin typeface="Palatino Linotype" pitchFamily="18" charset="0"/>
                  </a:rPr>
                  <a:t> is any simple closed path in </a:t>
                </a:r>
                <a:r>
                  <a:rPr lang="en-US" i="1" dirty="0" smtClean="0">
                    <a:latin typeface="Palatino Linotype" pitchFamily="18" charset="0"/>
                  </a:rPr>
                  <a:t>D</a:t>
                </a:r>
                <a:r>
                  <a:rPr lang="en-US" dirty="0" smtClean="0">
                    <a:latin typeface="Palatino Linotype" pitchFamily="18" charset="0"/>
                  </a:rPr>
                  <a:t> contained in </a:t>
                </a:r>
                <a:r>
                  <a:rPr lang="en-US" i="1" dirty="0" smtClean="0">
                    <a:latin typeface="Palatino Linotype" pitchFamily="18" charset="0"/>
                  </a:rPr>
                  <a:t>D</a:t>
                </a:r>
                <a:r>
                  <a:rPr lang="en-US" dirty="0" smtClean="0">
                    <a:latin typeface="Palatino Linotype" pitchFamily="18" charset="0"/>
                  </a:rPr>
                  <a:t> and we integrate counterclockwise around </a:t>
                </a:r>
                <a:r>
                  <a:rPr lang="en-US" i="1" dirty="0" smtClean="0">
                    <a:latin typeface="Palatino Linotype" pitchFamily="18" charset="0"/>
                  </a:rPr>
                  <a:t>C</a:t>
                </a:r>
                <a:r>
                  <a:rPr lang="en-US" dirty="0" smtClean="0">
                    <a:latin typeface="Palatino Linotype" pitchFamily="18" charset="0"/>
                  </a:rPr>
                  <a:t>.</a:t>
                </a:r>
                <a:endParaRPr lang="en-US" dirty="0">
                  <a:latin typeface="Palatino Linotype" pitchFamily="18" charset="0"/>
                </a:endParaRPr>
              </a:p>
              <a:p>
                <a:pPr>
                  <a:defRPr/>
                </a:pPr>
                <a:endParaRPr lang="en-US" dirty="0">
                  <a:latin typeface="Palatino Linotype" pitchFamily="18" charset="0"/>
                </a:endParaRPr>
              </a:p>
            </p:txBody>
          </p:sp>
        </mc:Choice>
        <mc:Fallback>
          <p:sp>
            <p:nvSpPr>
              <p:cNvPr id="358403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553681"/>
                <a:ext cx="8382000" cy="3540841"/>
              </a:xfrm>
              <a:prstGeom prst="rect">
                <a:avLst/>
              </a:prstGeom>
              <a:blipFill rotWithShape="0">
                <a:blip r:embed="rId3"/>
                <a:stretch>
                  <a:fillRect l="-1004" t="-660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7252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58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5" name="Text Box 3"/>
          <p:cNvSpPr txBox="1">
            <a:spLocks noChangeArrowheads="1"/>
          </p:cNvSpPr>
          <p:nvPr/>
        </p:nvSpPr>
        <p:spPr bwMode="auto">
          <a:xfrm>
            <a:off x="457200" y="152400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1" dirty="0">
                <a:solidFill>
                  <a:srgbClr val="0099CC"/>
                </a:solidFill>
                <a:latin typeface="Arial" panose="020B0604020202020204" pitchFamily="34" charset="0"/>
              </a:rPr>
              <a:t>EXAMPLE</a:t>
            </a:r>
            <a:r>
              <a:rPr lang="en-US" altLang="en-US" b="1" dirty="0">
                <a:solidFill>
                  <a:srgbClr val="0099CC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 smtClean="0">
                <a:solidFill>
                  <a:srgbClr val="0099CC"/>
                </a:solidFill>
                <a:latin typeface="Arial" panose="020B0604020202020204" pitchFamily="34" charset="0"/>
              </a:rPr>
              <a:t>1</a:t>
            </a:r>
            <a:endParaRPr lang="en-US" altLang="en-US" b="1" dirty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6356" name="Text Box 4"/>
              <p:cNvSpPr txBox="1">
                <a:spLocks noChangeArrowheads="1"/>
              </p:cNvSpPr>
              <p:nvPr/>
            </p:nvSpPr>
            <p:spPr bwMode="auto">
              <a:xfrm>
                <a:off x="457200" y="584200"/>
                <a:ext cx="8305800" cy="1735090"/>
              </a:xfrm>
              <a:prstGeom prst="rect">
                <a:avLst/>
              </a:prstGeom>
              <a:noFill/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Let </a:t>
                </a:r>
                <a:r>
                  <a:rPr lang="en-US" altLang="en-US" sz="2000" i="1" dirty="0" smtClean="0">
                    <a:latin typeface="Palatino Linotype" panose="02040502050505030304" pitchFamily="18" charset="0"/>
                  </a:rPr>
                  <a:t>C</a:t>
                </a:r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 be a contour enclosing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oriented</m:t>
                    </m:r>
                    <m:r>
                      <a:rPr lang="en-US" alt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counterclockwise</m:t>
                    </m:r>
                    <m:r>
                      <a:rPr lang="en-US" alt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 Then by Theorem 1,</a:t>
                </a: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en-US" sz="200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=−2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func>
                            <m:funcPr>
                              <m:ctrlPr>
                                <a:rPr lang="en-US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en-US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=2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func>
                            <m:funcPr>
                              <m:ctrlPr>
                                <a:rPr lang="en-US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en-US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sinh</m:t>
                              </m:r>
                            </m:fName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altLang="en-US" sz="2000" dirty="0">
                  <a:latin typeface="Palatino Linotype" panose="02040502050505030304" pitchFamily="18" charset="0"/>
                </a:endParaRPr>
              </a:p>
              <a:p>
                <a:pPr eaLnBrk="1" hangingPunct="1"/>
                <a:endParaRPr lang="en-US" altLang="en-US" sz="2000" dirty="0">
                  <a:latin typeface="Palatino Linotype" panose="02040502050505030304" pitchFamily="18" charset="0"/>
                </a:endParaRPr>
              </a:p>
            </p:txBody>
          </p:sp>
        </mc:Choice>
        <mc:Fallback>
          <p:sp>
            <p:nvSpPr>
              <p:cNvPr id="35635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584200"/>
                <a:ext cx="8305800" cy="1735090"/>
              </a:xfrm>
              <a:prstGeom prst="rect">
                <a:avLst/>
              </a:prstGeom>
              <a:blipFill rotWithShape="0">
                <a:blip r:embed="rId3"/>
                <a:stretch>
                  <a:fillRect l="-659" t="-1748" r="-659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8442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6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3" name="Text Box 3"/>
          <p:cNvSpPr txBox="1">
            <a:spLocks noChangeArrowheads="1"/>
          </p:cNvSpPr>
          <p:nvPr/>
        </p:nvSpPr>
        <p:spPr bwMode="auto">
          <a:xfrm>
            <a:off x="457200" y="1539272"/>
            <a:ext cx="8382000" cy="1569660"/>
          </a:xfrm>
          <a:prstGeom prst="rect">
            <a:avLst/>
          </a:prstGeom>
          <a:solidFill>
            <a:srgbClr val="DDDDFF"/>
          </a:solidFill>
          <a:ln w="9525">
            <a:solidFill>
              <a:srgbClr val="0099CC"/>
            </a:solidFill>
            <a:miter lim="800000"/>
            <a:headEnd/>
            <a:tailEnd/>
          </a:ln>
          <a:effectLst>
            <a:outerShdw dist="172739" dir="3238358" algn="ctr" rotWithShape="0">
              <a:schemeClr val="folHlink">
                <a:alpha val="50000"/>
              </a:schemeClr>
            </a:outerShdw>
          </a:effectLst>
        </p:spPr>
        <p:txBody>
          <a:bodyPr wrap="square" anchor="ctr" anchorCtr="0">
            <a:spAutoFit/>
          </a:bodyPr>
          <a:lstStyle/>
          <a:p>
            <a:pPr>
              <a:defRPr/>
            </a:pPr>
            <a:r>
              <a:rPr lang="en-US" dirty="0" smtClean="0">
                <a:latin typeface="Palatino Linotype" pitchFamily="18" charset="0"/>
              </a:rPr>
              <a:t>Theorem 2. </a:t>
            </a:r>
            <a:r>
              <a:rPr lang="en-US" b="1" dirty="0" err="1" smtClean="0">
                <a:latin typeface="Palatino Linotype" pitchFamily="18" charset="0"/>
              </a:rPr>
              <a:t>Liouville’s</a:t>
            </a:r>
            <a:r>
              <a:rPr lang="en-US" b="1" dirty="0" smtClean="0">
                <a:latin typeface="Palatino Linotype" pitchFamily="18" charset="0"/>
              </a:rPr>
              <a:t> Theorem</a:t>
            </a:r>
          </a:p>
          <a:p>
            <a:pPr>
              <a:defRPr/>
            </a:pPr>
            <a:r>
              <a:rPr lang="en-US" dirty="0" smtClean="0">
                <a:latin typeface="Palatino Linotype" pitchFamily="18" charset="0"/>
              </a:rPr>
              <a:t>If an entire function is bounded in absolute value in all of the complex plane, then this function must be a constant.</a:t>
            </a:r>
            <a:endParaRPr lang="en-US" dirty="0">
              <a:latin typeface="Palatino Linotype" pitchFamily="18" charset="0"/>
            </a:endParaRPr>
          </a:p>
          <a:p>
            <a:pPr>
              <a:defRPr/>
            </a:pPr>
            <a:endParaRPr lang="en-US" dirty="0">
              <a:latin typeface="Palatino Linotyp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55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58403" name="Text Box 3"/>
              <p:cNvSpPr txBox="1">
                <a:spLocks noChangeArrowheads="1"/>
              </p:cNvSpPr>
              <p:nvPr/>
            </p:nvSpPr>
            <p:spPr bwMode="auto">
              <a:xfrm>
                <a:off x="457200" y="1293531"/>
                <a:ext cx="8382000" cy="2061142"/>
              </a:xfrm>
              <a:prstGeom prst="rect">
                <a:avLst/>
              </a:prstGeom>
              <a:solidFill>
                <a:srgbClr val="DDDDFF"/>
              </a:solid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 wrap="square" anchor="ctr" anchorCtr="0">
                <a:spAutoFit/>
              </a:bodyPr>
              <a:lstStyle/>
              <a:p>
                <a:pPr>
                  <a:defRPr/>
                </a:pPr>
                <a:r>
                  <a:rPr lang="en-US" dirty="0" smtClean="0">
                    <a:latin typeface="Palatino Linotype" pitchFamily="18" charset="0"/>
                  </a:rPr>
                  <a:t>Theorem 3. </a:t>
                </a:r>
                <a:r>
                  <a:rPr lang="en-US" b="1" dirty="0" err="1" smtClean="0">
                    <a:latin typeface="Palatino Linotype" pitchFamily="18" charset="0"/>
                  </a:rPr>
                  <a:t>Morera’s</a:t>
                </a:r>
                <a:r>
                  <a:rPr lang="en-US" b="1" dirty="0" smtClean="0">
                    <a:latin typeface="Palatino Linotype" pitchFamily="18" charset="0"/>
                  </a:rPr>
                  <a:t> Theorem</a:t>
                </a:r>
              </a:p>
              <a:p>
                <a:pPr>
                  <a:defRPr/>
                </a:pPr>
                <a:r>
                  <a:rPr lang="en-US" dirty="0" smtClean="0">
                    <a:latin typeface="Palatino Linotype" pitchFamily="18" charset="0"/>
                  </a:rPr>
                  <a:t>If </a:t>
                </a:r>
                <a:r>
                  <a:rPr lang="en-US" i="1" dirty="0" smtClean="0">
                    <a:latin typeface="Palatino Linotype" pitchFamily="18" charset="0"/>
                  </a:rPr>
                  <a:t>f(z)</a:t>
                </a:r>
                <a:r>
                  <a:rPr lang="en-US" dirty="0" smtClean="0">
                    <a:latin typeface="Palatino Linotype" pitchFamily="18" charset="0"/>
                  </a:rPr>
                  <a:t> is continuous in a simply connected domain </a:t>
                </a:r>
                <a:r>
                  <a:rPr lang="en-US" i="1" dirty="0" smtClean="0">
                    <a:latin typeface="Palatino Linotype" pitchFamily="18" charset="0"/>
                  </a:rPr>
                  <a:t>D</a:t>
                </a:r>
                <a:r>
                  <a:rPr lang="en-US" dirty="0" smtClean="0">
                    <a:latin typeface="Palatino Linotype" pitchFamily="18" charset="0"/>
                  </a:rPr>
                  <a:t> and if</a:t>
                </a: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Palatino Linotype" pitchFamily="18" charset="0"/>
                </a:endParaRPr>
              </a:p>
              <a:p>
                <a:pPr>
                  <a:defRPr/>
                </a:pPr>
                <a:r>
                  <a:rPr lang="en-US" dirty="0" smtClean="0">
                    <a:latin typeface="Palatino Linotype" pitchFamily="18" charset="0"/>
                  </a:rPr>
                  <a:t>for every closed path in </a:t>
                </a:r>
                <a:r>
                  <a:rPr lang="en-US" i="1" dirty="0" smtClean="0">
                    <a:latin typeface="Palatino Linotype" pitchFamily="18" charset="0"/>
                  </a:rPr>
                  <a:t>D</a:t>
                </a:r>
                <a:r>
                  <a:rPr lang="en-US" dirty="0" smtClean="0">
                    <a:latin typeface="Palatino Linotype" pitchFamily="18" charset="0"/>
                  </a:rPr>
                  <a:t>, then </a:t>
                </a:r>
                <a:r>
                  <a:rPr lang="en-US" i="1" dirty="0" smtClean="0">
                    <a:latin typeface="Palatino Linotype" pitchFamily="18" charset="0"/>
                  </a:rPr>
                  <a:t>f(z)</a:t>
                </a:r>
                <a:r>
                  <a:rPr lang="en-US" dirty="0" smtClean="0">
                    <a:latin typeface="Palatino Linotype" pitchFamily="18" charset="0"/>
                  </a:rPr>
                  <a:t> is analytic in </a:t>
                </a:r>
                <a:r>
                  <a:rPr lang="en-US" i="1" dirty="0" smtClean="0">
                    <a:latin typeface="Palatino Linotype" pitchFamily="18" charset="0"/>
                  </a:rPr>
                  <a:t>D</a:t>
                </a:r>
                <a:r>
                  <a:rPr lang="en-US" dirty="0" smtClean="0">
                    <a:latin typeface="Palatino Linotype" pitchFamily="18" charset="0"/>
                  </a:rPr>
                  <a:t>.</a:t>
                </a:r>
                <a:endParaRPr lang="en-US" dirty="0">
                  <a:latin typeface="Palatino Linotype" pitchFamily="18" charset="0"/>
                </a:endParaRPr>
              </a:p>
            </p:txBody>
          </p:sp>
        </mc:Choice>
        <mc:Fallback>
          <p:sp>
            <p:nvSpPr>
              <p:cNvPr id="358403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293531"/>
                <a:ext cx="8382000" cy="2061142"/>
              </a:xfrm>
              <a:prstGeom prst="rect">
                <a:avLst/>
              </a:prstGeom>
              <a:blipFill rotWithShape="0">
                <a:blip r:embed="rId3"/>
                <a:stretch>
                  <a:fillRect l="-1004" t="-1302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704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5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3994</TotalTime>
  <Words>332</Words>
  <Application>Microsoft Office PowerPoint</Application>
  <PresentationFormat>On-screen Show (4:3)</PresentationFormat>
  <Paragraphs>73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Times New Roman</vt:lpstr>
      <vt:lpstr>Arial</vt:lpstr>
      <vt:lpstr>Palatino Linotype</vt:lpstr>
      <vt:lpstr>Symbol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SJECCD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Gloria Langer</dc:creator>
  <cp:lastModifiedBy>Davis, John M.</cp:lastModifiedBy>
  <cp:revision>178</cp:revision>
  <dcterms:created xsi:type="dcterms:W3CDTF">2007-10-22T03:05:36Z</dcterms:created>
  <dcterms:modified xsi:type="dcterms:W3CDTF">2017-10-20T17:51:51Z</dcterms:modified>
</cp:coreProperties>
</file>