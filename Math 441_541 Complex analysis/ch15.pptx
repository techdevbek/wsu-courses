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7" r:id="rId2"/>
    <p:sldId id="400" r:id="rId3"/>
    <p:sldId id="258" r:id="rId4"/>
    <p:sldId id="401" r:id="rId5"/>
    <p:sldId id="317" r:id="rId6"/>
    <p:sldId id="388" r:id="rId7"/>
    <p:sldId id="386" r:id="rId8"/>
    <p:sldId id="387" r:id="rId9"/>
    <p:sldId id="389" r:id="rId10"/>
    <p:sldId id="399" r:id="rId11"/>
    <p:sldId id="391" r:id="rId12"/>
    <p:sldId id="402" r:id="rId13"/>
    <p:sldId id="403" r:id="rId14"/>
    <p:sldId id="404" r:id="rId15"/>
    <p:sldId id="405" r:id="rId16"/>
    <p:sldId id="407" r:id="rId17"/>
    <p:sldId id="410" r:id="rId18"/>
    <p:sldId id="408" r:id="rId19"/>
    <p:sldId id="411" r:id="rId20"/>
    <p:sldId id="40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CCECFF"/>
    <a:srgbClr val="FF9966"/>
    <a:srgbClr val="CCFFCC"/>
    <a:srgbClr val="33CCCC"/>
    <a:srgbClr val="009999"/>
    <a:srgbClr val="CC33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94643" autoAdjust="0"/>
  </p:normalViewPr>
  <p:slideViewPr>
    <p:cSldViewPr>
      <p:cViewPr varScale="1">
        <p:scale>
          <a:sx n="111" d="100"/>
          <a:sy n="111" d="100"/>
        </p:scale>
        <p:origin x="102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33A1500-D1B9-4C22-B6EE-C95A87E8C6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526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96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88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smtClean="0"/>
              <a:t>’nonnegative</a:t>
            </a:r>
            <a:r>
              <a:rPr lang="en-US" altLang="en-US" baseline="0" dirty="0" smtClean="0"/>
              <a:t> real terms”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0431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cs typeface="Times New Roman"/>
              </a:rPr>
              <a:t>OK to here</a:t>
            </a:r>
          </a:p>
          <a:p>
            <a:pPr eaLnBrk="1" hangingPunct="1"/>
            <a:endParaRPr lang="en-US" altLang="en-U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002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685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77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smtClean="0"/>
              <a:t>Need to specify</a:t>
            </a:r>
            <a:r>
              <a:rPr lang="en-US" altLang="en-US" baseline="0" dirty="0" smtClean="0"/>
              <a:t> that n = 1, 2, </a:t>
            </a:r>
            <a:r>
              <a:rPr lang="mr-IN" altLang="en-US" baseline="0" dirty="0" smtClean="0"/>
              <a:t>…</a:t>
            </a:r>
            <a:r>
              <a:rPr lang="en-US" altLang="en-US" baseline="0" dirty="0" smtClean="0"/>
              <a:t>, ? 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253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577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810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69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7479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076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713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4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654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12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3935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 smtClean="0"/>
              <a:t>“</a:t>
            </a:r>
            <a:r>
              <a:rPr lang="en-US" altLang="en-US" smtClean="0"/>
              <a:t>less than</a:t>
            </a:r>
            <a:r>
              <a:rPr lang="en-US" altLang="en-US" baseline="0" smtClean="0"/>
              <a:t> R”</a:t>
            </a:r>
          </a:p>
        </p:txBody>
      </p:sp>
    </p:spTree>
    <p:extLst>
      <p:ext uri="{BB962C8B-B14F-4D97-AF65-F5344CB8AC3E}">
        <p14:creationId xmlns:p14="http://schemas.microsoft.com/office/powerpoint/2010/main" val="4041676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841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45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>
                <a:latin typeface="Arial" pitchFamily="34" charset="0"/>
              </a:rPr>
              <a:t>Finite Mathematics:  An Applied Approach </a:t>
            </a:r>
            <a:r>
              <a:rPr lang="en-US" sz="1200">
                <a:latin typeface="Arial" pitchFamily="34" charset="0"/>
              </a:rPr>
              <a:t> by Michael Sullivan</a:t>
            </a:r>
          </a:p>
          <a:p>
            <a:pPr algn="r">
              <a:defRPr/>
            </a:pPr>
            <a:r>
              <a:rPr lang="en-US" sz="1200">
                <a:latin typeface="Arial" pitchFamily="34" charset="0"/>
              </a:rPr>
              <a:t>Copyright 2011 by John Wiley &amp; Sons.  All rights reserved.</a:t>
            </a: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63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524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94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5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636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236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4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5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5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718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102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22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 dirty="0">
                <a:latin typeface="Arial" charset="0"/>
              </a:rPr>
              <a:t>Advanced Engineering Mathematics, 10/e </a:t>
            </a:r>
            <a:r>
              <a:rPr lang="en-US" sz="1200" dirty="0">
                <a:latin typeface="Arial" charset="0"/>
              </a:rPr>
              <a:t>by Erwin </a:t>
            </a:r>
            <a:r>
              <a:rPr lang="en-US" sz="1200" dirty="0" err="1">
                <a:latin typeface="Arial" charset="0"/>
              </a:rPr>
              <a:t>Kreyszig</a:t>
            </a:r>
            <a:endParaRPr lang="en-US" sz="1200" dirty="0">
              <a:latin typeface="Arial" charset="0"/>
            </a:endParaRPr>
          </a:p>
          <a:p>
            <a:pPr algn="r">
              <a:defRPr/>
            </a:pPr>
            <a:r>
              <a:rPr lang="en-US" sz="1200" dirty="0">
                <a:latin typeface="Arial" charset="0"/>
              </a:rPr>
              <a:t>Copyright 2011 by John Wiley &amp; Sons.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Power Series, Taylor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15.1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000" b="1" dirty="0">
                <a:solidFill>
                  <a:srgbClr val="009999"/>
                </a:solidFill>
                <a:latin typeface="Arial" charset="0"/>
              </a:rPr>
              <a:t>Sequences, Series, and Convergence Tests</a:t>
            </a:r>
          </a:p>
        </p:txBody>
      </p:sp>
    </p:spTree>
    <p:extLst>
      <p:ext uri="{BB962C8B-B14F-4D97-AF65-F5344CB8AC3E}">
        <p14:creationId xmlns:p14="http://schemas.microsoft.com/office/powerpoint/2010/main" val="76396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419100" y="466725"/>
                <a:ext cx="8305800" cy="3952813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Notes on Tests for Convergence/Divergence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Consider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b="1" dirty="0">
                    <a:latin typeface="Palatino Linotype" pitchFamily="18" charset="0"/>
                  </a:rPr>
                  <a:t>Divergence:</a:t>
                </a:r>
                <a:r>
                  <a:rPr lang="en-US" dirty="0">
                    <a:latin typeface="Palatino Linotype" pitchFamily="18" charset="0"/>
                  </a:rPr>
                  <a:t>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e>
                    </m:func>
                  </m:oMath>
                </a14:m>
                <a:r>
                  <a:rPr lang="en-US" dirty="0">
                    <a:latin typeface="Palatino Linotype" pitchFamily="18" charset="0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 diverges.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b="1" dirty="0">
                    <a:latin typeface="Palatino Linotype" pitchFamily="18" charset="0"/>
                  </a:rPr>
                  <a:t>Comparison: </a:t>
                </a:r>
                <a:r>
                  <a:rPr lang="en-US" dirty="0">
                    <a:latin typeface="Palatino Linotype" pitchFamily="18" charset="0"/>
                  </a:rPr>
                  <a:t>Suppose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 is a series of nonnegative terms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for each </a:t>
                </a:r>
                <a:r>
                  <a:rPr lang="en-US" i="1" dirty="0">
                    <a:latin typeface="Palatino Linotype" pitchFamily="18" charset="0"/>
                  </a:rPr>
                  <a:t>m</a:t>
                </a:r>
                <a:r>
                  <a:rPr lang="en-US" dirty="0">
                    <a:latin typeface="Palatino Linotype" pitchFamily="18" charset="0"/>
                  </a:rPr>
                  <a:t>. </a:t>
                </a:r>
                <a:r>
                  <a:rPr lang="en-US" dirty="0" smtClean="0">
                    <a:latin typeface="Palatino Linotype" pitchFamily="18" charset="0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 converges,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 converges.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b="1" dirty="0">
                    <a:latin typeface="Palatino Linotype" pitchFamily="18" charset="0"/>
                  </a:rPr>
                  <a:t>Geometric Series: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 converges if and only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&lt;1.</m:t>
                    </m:r>
                  </m:oMath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466725"/>
                <a:ext cx="8305800" cy="3952813"/>
              </a:xfrm>
              <a:prstGeom prst="rect">
                <a:avLst/>
              </a:prstGeom>
              <a:blipFill rotWithShape="0">
                <a:blip r:embed="rId3"/>
                <a:stretch>
                  <a:fillRect l="-1078" t="-93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228600"/>
                <a:ext cx="8305800" cy="3747949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Notes on Tests for Convergence/Divergence</a:t>
                </a:r>
              </a:p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latin typeface="Palatino Linotype" pitchFamily="18" charset="0"/>
                  </a:rPr>
                  <a:t>Consider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Palatino Linotype" pitchFamily="18" charset="0"/>
                  </a:rPr>
                  <a:t>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b="1" dirty="0">
                    <a:latin typeface="Palatino Linotype" pitchFamily="18" charset="0"/>
                  </a:rPr>
                  <a:t>Ratio Test: </a:t>
                </a:r>
                <a:r>
                  <a:rPr lang="en-US" dirty="0">
                    <a:latin typeface="Palatino Linotype" pitchFamily="18" charset="0"/>
                  </a:rPr>
                  <a:t>Let</a:t>
                </a:r>
                <a:r>
                  <a:rPr lang="en-US" i="1" dirty="0">
                    <a:latin typeface="Palatino Linotyp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&lt;1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>
                    <a:latin typeface="Palatino Linotype" pitchFamily="18" charset="0"/>
                  </a:rPr>
                  <a:t> (absolute) convergence.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>
                    <a:latin typeface="Palatino Linotype" pitchFamily="18" charset="0"/>
                  </a:rPr>
                  <a:t> divergence.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is inconclusive.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b="1" dirty="0">
                    <a:latin typeface="Palatino Linotype" pitchFamily="18" charset="0"/>
                  </a:rPr>
                  <a:t>Root Test: </a:t>
                </a:r>
                <a:r>
                  <a:rPr lang="en-US" dirty="0">
                    <a:latin typeface="Palatino Linotype" pitchFamily="18" charset="0"/>
                  </a:rPr>
                  <a:t>Let</a:t>
                </a:r>
                <a:r>
                  <a:rPr lang="en-US" i="1" dirty="0">
                    <a:latin typeface="Palatino Linotyp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&lt;1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>
                    <a:latin typeface="Palatino Linotype" pitchFamily="18" charset="0"/>
                  </a:rPr>
                  <a:t> (absolute) convergence.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>
                    <a:latin typeface="Palatino Linotype" pitchFamily="18" charset="0"/>
                  </a:rPr>
                  <a:t> divergence.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is inconclusive.</a:t>
                </a:r>
              </a:p>
            </p:txBody>
          </p:sp>
        </mc:Choice>
        <mc:Fallback xmlns=""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28600"/>
                <a:ext cx="8305800" cy="3747949"/>
              </a:xfrm>
              <a:prstGeom prst="rect">
                <a:avLst/>
              </a:prstGeom>
              <a:blipFill rotWithShape="0">
                <a:blip r:embed="rId3"/>
                <a:stretch>
                  <a:fillRect l="-999" t="-1221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12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2631746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Consider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(100+75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By the Ratio Test,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(100+75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+1)!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(100+75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|100+75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 By the Ratio Test, this series converges.</a:t>
                </a: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2631746"/>
              </a:xfrm>
              <a:prstGeom prst="rect">
                <a:avLst/>
              </a:prstGeom>
              <a:blipFill rotWithShape="0">
                <a:blip r:embed="rId3"/>
                <a:stretch>
                  <a:fillRect l="-659" b="-2995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15.2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Power Series</a:t>
            </a:r>
          </a:p>
        </p:txBody>
      </p:sp>
    </p:spTree>
    <p:extLst>
      <p:ext uri="{BB962C8B-B14F-4D97-AF65-F5344CB8AC3E}">
        <p14:creationId xmlns:p14="http://schemas.microsoft.com/office/powerpoint/2010/main" val="69825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031217"/>
                <a:ext cx="8382000" cy="2585772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Theorem 2. </a:t>
                </a:r>
                <a:r>
                  <a:rPr lang="en-US" b="1" dirty="0">
                    <a:latin typeface="Palatino Linotype" pitchFamily="18" charset="0"/>
                  </a:rPr>
                  <a:t>Radius of Convergence</a:t>
                </a: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Suppose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Palatino Linotype" pitchFamily="18" charset="0"/>
                  </a:rPr>
                  <a:t>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, then 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031217"/>
                <a:ext cx="8382000" cy="2585772"/>
              </a:xfrm>
              <a:prstGeom prst="rect">
                <a:avLst/>
              </a:prstGeom>
              <a:blipFill rotWithShape="0">
                <a:blip r:embed="rId3"/>
                <a:stretch>
                  <a:fillRect l="-1004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2219582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The radius of convergence for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is given by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0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type m:val="lin"/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e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en-US" sz="2000">
                                          <a:latin typeface="Cambria Math" panose="020405030504060302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+1)</m:t>
                                          </m:r>
                                        </m:e>
                                        <m:sup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(2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+2)(2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+1)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den>
                          </m:f>
                        </m:e>
                      </m:func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2219582"/>
              </a:xfrm>
              <a:prstGeom prst="rect">
                <a:avLst/>
              </a:prstGeom>
              <a:blipFill rotWithShape="0">
                <a:blip r:embed="rId3"/>
                <a:stretch>
                  <a:fillRect l="-659" t="-1366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4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15.3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Functions Given by Power Series</a:t>
            </a:r>
          </a:p>
        </p:txBody>
      </p:sp>
    </p:spTree>
    <p:extLst>
      <p:ext uri="{BB962C8B-B14F-4D97-AF65-F5344CB8AC3E}">
        <p14:creationId xmlns:p14="http://schemas.microsoft.com/office/powerpoint/2010/main" val="3527705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457200" y="1723937"/>
            <a:ext cx="83820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>
                <a:latin typeface="Palatino Linotype" pitchFamily="18" charset="0"/>
              </a:rPr>
              <a:t>Theorem 3. </a:t>
            </a:r>
            <a:r>
              <a:rPr lang="en-US" b="1" dirty="0" err="1">
                <a:latin typeface="Palatino Linotype" pitchFamily="18" charset="0"/>
              </a:rPr>
              <a:t>Termwise</a:t>
            </a:r>
            <a:r>
              <a:rPr lang="en-US" b="1" dirty="0">
                <a:latin typeface="Palatino Linotype" pitchFamily="18" charset="0"/>
              </a:rPr>
              <a:t> Differentiation of a Power Series</a:t>
            </a:r>
          </a:p>
          <a:p>
            <a:pPr>
              <a:defRPr/>
            </a:pPr>
            <a:r>
              <a:rPr lang="en-US" dirty="0">
                <a:latin typeface="Palatino Linotype" pitchFamily="18" charset="0"/>
              </a:rPr>
              <a:t>The derived series of a power series has the same radius of convergence as the original series.</a:t>
            </a:r>
          </a:p>
        </p:txBody>
      </p:sp>
    </p:spTree>
    <p:extLst>
      <p:ext uri="{BB962C8B-B14F-4D97-AF65-F5344CB8AC3E}">
        <p14:creationId xmlns:p14="http://schemas.microsoft.com/office/powerpoint/2010/main" val="20568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609600"/>
                <a:ext cx="8305800" cy="2162643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To find the radius of convergence for the series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Note that if we differentiate the standard geometric series term-by-term twice and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, we get this series. Hence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</a:t>
                </a:r>
              </a:p>
              <a:p>
                <a:pPr eaLnBrk="1" hangingPunct="1"/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09600"/>
                <a:ext cx="8305800" cy="2162643"/>
              </a:xfrm>
              <a:prstGeom prst="rect">
                <a:avLst/>
              </a:prstGeom>
              <a:blipFill rotWithShape="0">
                <a:blip r:embed="rId3"/>
                <a:stretch>
                  <a:fillRect l="-659" t="-1120" r="-513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5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457200" y="800608"/>
            <a:ext cx="8382000" cy="3046988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>
                <a:latin typeface="Palatino Linotype" pitchFamily="18" charset="0"/>
              </a:rPr>
              <a:t>Theorem 5. </a:t>
            </a:r>
            <a:r>
              <a:rPr lang="en-US" b="1" dirty="0">
                <a:latin typeface="Palatino Linotype" pitchFamily="18" charset="0"/>
              </a:rPr>
              <a:t>Analytic Functions, Their Derivatives</a:t>
            </a:r>
          </a:p>
          <a:p>
            <a:pPr>
              <a:defRPr/>
            </a:pPr>
            <a:r>
              <a:rPr lang="en-US" dirty="0">
                <a:latin typeface="Palatino Linotype" pitchFamily="18" charset="0"/>
              </a:rPr>
              <a:t>A power series with a nonzero radius of convergence R represents an analytic function at every point interior to its circle of convergence. The derivatives of this function are obtained by differentiating the original series term-by-term. All the series thus obtained have the same radius of convergence as the original series. Hence, each of them represents an analytic function.</a:t>
            </a:r>
          </a:p>
        </p:txBody>
      </p:sp>
    </p:spTree>
    <p:extLst>
      <p:ext uri="{BB962C8B-B14F-4D97-AF65-F5344CB8AC3E}">
        <p14:creationId xmlns:p14="http://schemas.microsoft.com/office/powerpoint/2010/main" val="145809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15.4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Taylor and Maclaurin Series</a:t>
            </a:r>
          </a:p>
        </p:txBody>
      </p:sp>
    </p:spTree>
    <p:extLst>
      <p:ext uri="{BB962C8B-B14F-4D97-AF65-F5344CB8AC3E}">
        <p14:creationId xmlns:p14="http://schemas.microsoft.com/office/powerpoint/2010/main" val="4043480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973347"/>
                <a:ext cx="8382000" cy="2701509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Key formulation for the Taylor Series for </a:t>
                </a:r>
                <a:r>
                  <a:rPr lang="en-US" i="1" dirty="0">
                    <a:latin typeface="Palatino Linotype" pitchFamily="18" charset="0"/>
                  </a:rPr>
                  <a:t>f(z)</a:t>
                </a:r>
                <a:r>
                  <a:rPr lang="en-US" dirty="0">
                    <a:latin typeface="Palatino Linotype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>
                  <a:latin typeface="Palatino Linotype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where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chr m:val="∮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973347"/>
                <a:ext cx="8382000" cy="2701509"/>
              </a:xfrm>
              <a:prstGeom prst="rect">
                <a:avLst/>
              </a:prstGeom>
              <a:blipFill rotWithShape="0">
                <a:blip r:embed="rId3"/>
                <a:stretch>
                  <a:fillRect l="-1004" t="-1068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3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609600"/>
                <a:ext cx="8305800" cy="1722651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So the Maclaurin series for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f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is given by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09600"/>
                <a:ext cx="8305800" cy="1722651"/>
              </a:xfrm>
              <a:prstGeom prst="rect">
                <a:avLst/>
              </a:prstGeom>
              <a:blipFill rotWithShape="0">
                <a:blip r:embed="rId3"/>
                <a:stretch>
                  <a:fillRect l="-65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71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>
                <a:solidFill>
                  <a:srgbClr val="33CCCC"/>
                </a:solidFill>
                <a:latin typeface="Arial" charset="0"/>
              </a:rPr>
              <a:t>15.5</a:t>
            </a:r>
            <a:r>
              <a:rPr lang="en-US" sz="3600" b="1" dirty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>
                <a:solidFill>
                  <a:srgbClr val="009999"/>
                </a:solidFill>
                <a:latin typeface="Arial" charset="0"/>
              </a:rPr>
              <a:t>Uniform Convergence</a:t>
            </a:r>
          </a:p>
        </p:txBody>
      </p:sp>
    </p:spTree>
    <p:extLst>
      <p:ext uri="{BB962C8B-B14F-4D97-AF65-F5344CB8AC3E}">
        <p14:creationId xmlns:p14="http://schemas.microsoft.com/office/powerpoint/2010/main" val="394157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457200" y="246609"/>
            <a:ext cx="8382000" cy="4154984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>
                <a:latin typeface="Palatino Linotype" pitchFamily="18" charset="0"/>
              </a:rPr>
              <a:t>Key properties of uniformly convergent series:</a:t>
            </a:r>
          </a:p>
          <a:p>
            <a:pPr>
              <a:defRPr/>
            </a:pPr>
            <a:endParaRPr lang="en-US" dirty="0">
              <a:latin typeface="Palatino Linotype" pitchFamily="18" charset="0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latin typeface="Palatino Linotype" pitchFamily="18" charset="0"/>
              </a:rPr>
              <a:t>Power series are uniformly convergent on their disk of convergence.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b="0" dirty="0">
                <a:latin typeface="Palatino Linotype" pitchFamily="18" charset="0"/>
              </a:rPr>
              <a:t>If the terms are continuous functions and the convergence is uniform, then the sum is also continuous.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latin typeface="Palatino Linotype" pitchFamily="18" charset="0"/>
              </a:rPr>
              <a:t>Term-by-term integration is permissible.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latin typeface="Palatino Linotype" pitchFamily="18" charset="0"/>
              </a:rPr>
              <a:t>Under certain extra conditions, term-by-term differentiation is permissible.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b="0" dirty="0">
                <a:latin typeface="Palatino Linotype" pitchFamily="18" charset="0"/>
              </a:rPr>
              <a:t>There is no relation between uniform convergence and absolute convergence.</a:t>
            </a:r>
          </a:p>
        </p:txBody>
      </p:sp>
    </p:spTree>
    <p:extLst>
      <p:ext uri="{BB962C8B-B14F-4D97-AF65-F5344CB8AC3E}">
        <p14:creationId xmlns:p14="http://schemas.microsoft.com/office/powerpoint/2010/main" val="24432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850942"/>
                <a:ext cx="8382000" cy="2946319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Theorem 1. </a:t>
                </a:r>
                <a:r>
                  <a:rPr lang="en-US" b="1" dirty="0">
                    <a:latin typeface="Palatino Linotype" pitchFamily="18" charset="0"/>
                  </a:rPr>
                  <a:t>Uniform Convergence of Power Series</a:t>
                </a:r>
              </a:p>
              <a:p>
                <a:pPr>
                  <a:defRPr/>
                </a:pPr>
                <a:r>
                  <a:rPr lang="en-US" b="0" dirty="0">
                    <a:latin typeface="Palatino Linotype" pitchFamily="18" charset="0"/>
                  </a:rPr>
                  <a:t>A power series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with a nonzero radius of convergence </a:t>
                </a:r>
                <a:r>
                  <a:rPr lang="en-US" i="1" dirty="0">
                    <a:latin typeface="Palatino Linotype" pitchFamily="18" charset="0"/>
                  </a:rPr>
                  <a:t>R</a:t>
                </a:r>
                <a:r>
                  <a:rPr lang="en-US" dirty="0">
                    <a:latin typeface="Palatino Linotype" pitchFamily="18" charset="0"/>
                  </a:rPr>
                  <a:t> is uniformly convergent within every circular disk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with radius let than </a:t>
                </a:r>
                <a:r>
                  <a:rPr lang="en-US" i="1" dirty="0">
                    <a:latin typeface="Palatino Linotype" pitchFamily="18" charset="0"/>
                  </a:rPr>
                  <a:t>R</a:t>
                </a:r>
                <a:r>
                  <a:rPr lang="en-US" dirty="0">
                    <a:latin typeface="Palatino Linotype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850942"/>
                <a:ext cx="8382000" cy="2946319"/>
              </a:xfrm>
              <a:prstGeom prst="rect">
                <a:avLst/>
              </a:prstGeom>
              <a:blipFill rotWithShape="0">
                <a:blip r:embed="rId3"/>
                <a:stretch>
                  <a:fillRect l="-1004" t="-94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05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162613"/>
                <a:ext cx="8382000" cy="4322978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Theorem 5. </a:t>
                </a:r>
                <a:r>
                  <a:rPr lang="en-US" b="1" dirty="0" err="1">
                    <a:latin typeface="Palatino Linotype" pitchFamily="18" charset="0"/>
                  </a:rPr>
                  <a:t>Weierstrass</a:t>
                </a:r>
                <a:r>
                  <a:rPr lang="en-US" b="1" dirty="0">
                    <a:latin typeface="Palatino Linotype" pitchFamily="18" charset="0"/>
                  </a:rPr>
                  <a:t> </a:t>
                </a:r>
                <a:r>
                  <a:rPr lang="en-US" b="1" i="1" dirty="0">
                    <a:latin typeface="Palatino Linotype" pitchFamily="18" charset="0"/>
                  </a:rPr>
                  <a:t>M</a:t>
                </a:r>
                <a:r>
                  <a:rPr lang="en-US" b="1" dirty="0">
                    <a:latin typeface="Palatino Linotype" pitchFamily="18" charset="0"/>
                  </a:rPr>
                  <a:t>-Test for Uniform Convergence</a:t>
                </a:r>
              </a:p>
              <a:p>
                <a:pPr>
                  <a:defRPr/>
                </a:pPr>
                <a:r>
                  <a:rPr lang="en-US" b="0" dirty="0">
                    <a:latin typeface="Palatino Linotype" pitchFamily="18" charset="0"/>
                  </a:rPr>
                  <a:t>Consider a series of the form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in a region </a:t>
                </a:r>
                <a:r>
                  <a:rPr lang="en-US" i="1" dirty="0">
                    <a:latin typeface="Palatino Linotype" pitchFamily="18" charset="0"/>
                  </a:rPr>
                  <a:t>G</a:t>
                </a:r>
                <a:r>
                  <a:rPr lang="en-US" dirty="0">
                    <a:latin typeface="Palatino Linotype" pitchFamily="18" charset="0"/>
                  </a:rPr>
                  <a:t> of the complex plane. Suppose that one can find a convergent series of constant terms 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>
                    <a:latin typeface="Palatino Linotype" pitchFamily="18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itchFamily="18" charset="0"/>
                  </a:rPr>
                  <a:t> for all </a:t>
                </a:r>
                <a:r>
                  <a:rPr lang="en-US" i="1" dirty="0">
                    <a:latin typeface="Palatino Linotype" pitchFamily="18" charset="0"/>
                  </a:rPr>
                  <a:t>z</a:t>
                </a:r>
                <a:r>
                  <a:rPr lang="en-US" dirty="0">
                    <a:latin typeface="Palatino Linotype" pitchFamily="18" charset="0"/>
                  </a:rPr>
                  <a:t> in </a:t>
                </a:r>
                <a:r>
                  <a:rPr lang="en-US" i="1" dirty="0">
                    <a:latin typeface="Palatino Linotype" pitchFamily="18" charset="0"/>
                  </a:rPr>
                  <a:t>G</a:t>
                </a:r>
                <a:r>
                  <a:rPr lang="en-US" dirty="0">
                    <a:latin typeface="Palatino Linotype" pitchFamily="18" charset="0"/>
                  </a:rPr>
                  <a:t> and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=0,1,2,…</m:t>
                    </m:r>
                  </m:oMath>
                </a14:m>
                <a:r>
                  <a:rPr lang="en-US" dirty="0">
                    <a:latin typeface="Palatino Linotype" pitchFamily="18" charset="0"/>
                  </a:rPr>
                  <a:t> Then the original series is uniformly convergent in </a:t>
                </a:r>
                <a:r>
                  <a:rPr lang="en-US" i="1" dirty="0">
                    <a:latin typeface="Palatino Linotype" pitchFamily="18" charset="0"/>
                  </a:rPr>
                  <a:t>G</a:t>
                </a:r>
                <a:r>
                  <a:rPr lang="en-US" dirty="0">
                    <a:latin typeface="Palatino Linotype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62613"/>
                <a:ext cx="8382000" cy="4322978"/>
              </a:xfrm>
              <a:prstGeom prst="rect">
                <a:avLst/>
              </a:prstGeom>
              <a:blipFill rotWithShape="0">
                <a:blip r:embed="rId3"/>
                <a:stretch>
                  <a:fillRect l="-1004" t="-53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70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609600"/>
                <a:ext cx="8305800" cy="3284297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The series 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US" sz="2000" b="0" i="0" smtClean="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converges uniformly in the disk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|≤1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by the </a:t>
                </a:r>
                <a:r>
                  <a:rPr lang="en-US" altLang="en-US" sz="2000" dirty="0" err="1">
                    <a:latin typeface="Palatino Linotype" panose="02040502050505030304" pitchFamily="18" charset="0"/>
                  </a:rPr>
                  <a:t>Weierstrass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M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-Test as follows: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US" sz="20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r>
                        <a:rPr lang="en-US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  <a:p>
                <a:pPr eaLnBrk="1" hangingPunct="1"/>
                <a:r>
                  <a:rPr lang="en-US" altLang="en-US" sz="2000" dirty="0">
                    <a:latin typeface="Palatino Linotype" panose="02040502050505030304" pitchFamily="18" charset="0"/>
                  </a:rPr>
                  <a:t>So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. Since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 converges (it is a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p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-series with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2000" dirty="0">
                    <a:latin typeface="Palatino Linotype" panose="02040502050505030304" pitchFamily="18" charset="0"/>
                  </a:rPr>
                  <a:t>), then the original series converges uniformly by the </a:t>
                </a:r>
                <a:r>
                  <a:rPr lang="en-US" altLang="en-US" sz="2000" dirty="0" err="1">
                    <a:latin typeface="Palatino Linotype" panose="02040502050505030304" pitchFamily="18" charset="0"/>
                  </a:rPr>
                  <a:t>Weierstrass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 </a:t>
                </a:r>
                <a:r>
                  <a:rPr lang="en-US" altLang="en-US" sz="2000" i="1" dirty="0">
                    <a:latin typeface="Palatino Linotype" panose="02040502050505030304" pitchFamily="18" charset="0"/>
                  </a:rPr>
                  <a:t>M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-Test.</a:t>
                </a: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09600"/>
                <a:ext cx="8305800" cy="3284297"/>
              </a:xfrm>
              <a:prstGeom prst="rect">
                <a:avLst/>
              </a:prstGeom>
              <a:blipFill rotWithShape="0">
                <a:blip r:embed="rId3"/>
                <a:stretch>
                  <a:fillRect l="-659" t="-739" b="-9982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72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4113</TotalTime>
  <Words>329</Words>
  <Application>Microsoft Office PowerPoint</Application>
  <PresentationFormat>On-screen Show (4:3)</PresentationFormat>
  <Paragraphs>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Cambria Math</vt:lpstr>
      <vt:lpstr>Mangal</vt:lpstr>
      <vt:lpstr>Palatino Linotype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SJECCD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Gloria Langer</dc:creator>
  <cp:lastModifiedBy>Davis, John M.</cp:lastModifiedBy>
  <cp:revision>199</cp:revision>
  <dcterms:created xsi:type="dcterms:W3CDTF">2007-10-22T03:05:36Z</dcterms:created>
  <dcterms:modified xsi:type="dcterms:W3CDTF">2017-11-10T20:45:15Z</dcterms:modified>
</cp:coreProperties>
</file>