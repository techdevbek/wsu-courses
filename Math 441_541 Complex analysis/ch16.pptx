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7" r:id="rId2"/>
    <p:sldId id="400" r:id="rId3"/>
    <p:sldId id="258" r:id="rId4"/>
    <p:sldId id="403" r:id="rId5"/>
    <p:sldId id="401" r:id="rId6"/>
    <p:sldId id="402" r:id="rId7"/>
    <p:sldId id="317" r:id="rId8"/>
    <p:sldId id="388" r:id="rId9"/>
    <p:sldId id="386" r:id="rId10"/>
    <p:sldId id="387" r:id="rId11"/>
    <p:sldId id="389" r:id="rId12"/>
    <p:sldId id="399" r:id="rId13"/>
    <p:sldId id="391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ker, Mary" initials="BM" lastIdx="1" clrIdx="0">
    <p:extLst/>
  </p:cmAuthor>
  <p:cmAuthor id="2" name="Baker, Mary" initials="BM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CCECFF"/>
    <a:srgbClr val="FF9966"/>
    <a:srgbClr val="CCFFCC"/>
    <a:srgbClr val="33CCCC"/>
    <a:srgbClr val="009999"/>
    <a:srgbClr val="CC33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7" autoAdjust="0"/>
    <p:restoredTop sz="94659" autoAdjust="0"/>
  </p:normalViewPr>
  <p:slideViewPr>
    <p:cSldViewPr>
      <p:cViewPr varScale="1">
        <p:scale>
          <a:sx n="69" d="100"/>
          <a:sy n="69" d="100"/>
        </p:scale>
        <p:origin x="11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33A1500-D1B9-4C22-B6EE-C95A87E8C6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5268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96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88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A5B777-1766-483D-A19B-B4E9FB5B817A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‘C that lies’</a:t>
            </a:r>
          </a:p>
        </p:txBody>
      </p:sp>
    </p:spTree>
    <p:extLst>
      <p:ext uri="{BB962C8B-B14F-4D97-AF65-F5344CB8AC3E}">
        <p14:creationId xmlns:p14="http://schemas.microsoft.com/office/powerpoint/2010/main" val="2350431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Change sign on first equation to less than</a:t>
            </a:r>
          </a:p>
        </p:txBody>
      </p:sp>
    </p:spTree>
    <p:extLst>
      <p:ext uri="{BB962C8B-B14F-4D97-AF65-F5344CB8AC3E}">
        <p14:creationId xmlns:p14="http://schemas.microsoft.com/office/powerpoint/2010/main" val="2548743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309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A5B777-1766-483D-A19B-B4E9FB5B817A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6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685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177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53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577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810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692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747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>
                <a:latin typeface="Arial" pitchFamily="34" charset="0"/>
              </a:rPr>
              <a:t>Finite Mathematics:  An Applied Approach </a:t>
            </a:r>
            <a:r>
              <a:rPr lang="en-US" sz="1200">
                <a:latin typeface="Arial" pitchFamily="34" charset="0"/>
              </a:rPr>
              <a:t> by Michael Sullivan</a:t>
            </a:r>
          </a:p>
          <a:p>
            <a:pPr algn="r">
              <a:defRPr/>
            </a:pPr>
            <a:r>
              <a:rPr lang="en-US" sz="1200">
                <a:latin typeface="Arial" pitchFamily="34" charset="0"/>
              </a:rPr>
              <a:t>Copyright 2011 by John Wiley &amp; Sons.  All rights reserved.</a:t>
            </a: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63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524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94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5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636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236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4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51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5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718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1021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422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 dirty="0">
                <a:latin typeface="Arial" charset="0"/>
              </a:rPr>
              <a:t>Advanced Engineering Mathematics, 10/e </a:t>
            </a:r>
            <a:r>
              <a:rPr lang="en-US" sz="1200" dirty="0">
                <a:latin typeface="Arial" charset="0"/>
              </a:rPr>
              <a:t>by Erwin </a:t>
            </a:r>
            <a:r>
              <a:rPr lang="en-US" sz="1200" dirty="0" err="1">
                <a:latin typeface="Arial" charset="0"/>
              </a:rPr>
              <a:t>Kreyszig</a:t>
            </a:r>
            <a:endParaRPr lang="en-US" sz="1200" dirty="0">
              <a:latin typeface="Arial" charset="0"/>
            </a:endParaRPr>
          </a:p>
          <a:p>
            <a:pPr algn="r">
              <a:defRPr/>
            </a:pPr>
            <a:r>
              <a:rPr lang="en-US" sz="1200" dirty="0">
                <a:latin typeface="Arial" charset="0"/>
              </a:rPr>
              <a:t>Copyright 2011 by John Wiley &amp; Sons.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16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Laurent Series. Residue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16.1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Laurent Series</a:t>
            </a:r>
          </a:p>
        </p:txBody>
      </p:sp>
    </p:spTree>
    <p:extLst>
      <p:ext uri="{BB962C8B-B14F-4D97-AF65-F5344CB8AC3E}">
        <p14:creationId xmlns:p14="http://schemas.microsoft.com/office/powerpoint/2010/main" val="76396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Text Box 6"/>
              <p:cNvSpPr txBox="1">
                <a:spLocks noChangeArrowheads="1"/>
              </p:cNvSpPr>
              <p:nvPr/>
            </p:nvSpPr>
            <p:spPr bwMode="auto">
              <a:xfrm>
                <a:off x="457200" y="152400"/>
                <a:ext cx="8305800" cy="5965351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Theorem 1. </a:t>
                </a:r>
                <a:r>
                  <a:rPr lang="en-US" b="1" dirty="0">
                    <a:latin typeface="Palatino Linotype" pitchFamily="18" charset="0"/>
                  </a:rPr>
                  <a:t>Laurent’s Theorem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be analytic in a domain containing two concentric circles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itchFamily="18" charset="0"/>
                  </a:rPr>
                  <a:t> with center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itchFamily="18" charset="0"/>
                  </a:rPr>
                  <a:t> and the annulus between them.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can be represented by the Laurent series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Palatino Linotype" pitchFamily="18" charset="0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where the coefficients are given by the integrals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taken counterclockwise around any simple closed path </a:t>
                </a:r>
                <a:r>
                  <a:rPr lang="en-US" i="1" dirty="0">
                    <a:latin typeface="Palatino Linotype" pitchFamily="18" charset="0"/>
                  </a:rPr>
                  <a:t>C </a:t>
                </a:r>
                <a:r>
                  <a:rPr lang="en-US" dirty="0">
                    <a:latin typeface="Palatino Linotype" pitchFamily="18" charset="0"/>
                  </a:rPr>
                  <a:t>that lies in the annulus and encircles the inner circle.</a:t>
                </a:r>
              </a:p>
            </p:txBody>
          </p:sp>
        </mc:Choice>
        <mc:Fallback xmlns="">
          <p:sp>
            <p:nvSpPr>
              <p:cNvPr id="410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52400"/>
                <a:ext cx="8305800" cy="5965351"/>
              </a:xfrm>
              <a:prstGeom prst="rect">
                <a:avLst/>
              </a:prstGeom>
              <a:blipFill rotWithShape="0">
                <a:blip r:embed="rId3"/>
                <a:stretch>
                  <a:fillRect l="-1013" t="-689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5571205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Let’s find the Laurent series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and discuss its region of convergence. First, from our knowledge of geometric series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nary>
                      <m:r>
                        <a:rPr lang="en-US" alt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0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000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altLang="en-US" sz="2000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&lt;</m:t>
                      </m:r>
                      <m:r>
                        <a:rPr lang="en-US" altLang="en-US" sz="20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and thus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00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en-US" sz="20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00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altLang="en-US" sz="200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5571205"/>
              </a:xfrm>
              <a:prstGeom prst="rect">
                <a:avLst/>
              </a:prstGeom>
              <a:blipFill rotWithShape="0">
                <a:blip r:embed="rId3"/>
                <a:stretch>
                  <a:fillRect l="-659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76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16.2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Singularities and Zeros. Infinity.</a:t>
            </a:r>
          </a:p>
        </p:txBody>
      </p:sp>
    </p:spTree>
    <p:extLst>
      <p:ext uri="{BB962C8B-B14F-4D97-AF65-F5344CB8AC3E}">
        <p14:creationId xmlns:p14="http://schemas.microsoft.com/office/powerpoint/2010/main" val="192345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Text Box 6"/>
              <p:cNvSpPr txBox="1">
                <a:spLocks noChangeArrowheads="1"/>
              </p:cNvSpPr>
              <p:nvPr/>
            </p:nvSpPr>
            <p:spPr bwMode="auto">
              <a:xfrm>
                <a:off x="533400" y="609600"/>
                <a:ext cx="8305800" cy="4893647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Key terms: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Singular point/singularity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Pole, simple pole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Essential singularity</a:t>
                </a:r>
              </a:p>
              <a:p>
                <a:pPr>
                  <a:spcBef>
                    <a:spcPct val="50000"/>
                  </a:spcBef>
                  <a:defRPr/>
                </a:pPr>
                <a:endParaRPr lang="en-US" dirty="0">
                  <a:latin typeface="Palatino Linotype" pitchFamily="18" charset="0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Key ideas: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>
                    <a:latin typeface="Palatino Linotype" pitchFamily="18" charset="0"/>
                  </a:rPr>
                  <a:t> is analytic,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and </a:t>
                </a:r>
                <a:r>
                  <a:rPr lang="en-US" i="1" dirty="0">
                    <a:latin typeface="Palatino Linotype" pitchFamily="18" charset="0"/>
                  </a:rPr>
                  <a:t>f</a:t>
                </a:r>
                <a:r>
                  <a:rPr lang="en-US" dirty="0">
                    <a:latin typeface="Palatino Linotype" pitchFamily="18" charset="0"/>
                  </a:rPr>
                  <a:t> has a pole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Palatino Linotype" pitchFamily="18" charset="0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, then the zeros of </a:t>
                </a:r>
                <a:r>
                  <a:rPr lang="en-US" i="1" dirty="0">
                    <a:latin typeface="Palatino Linotype" pitchFamily="18" charset="0"/>
                  </a:rPr>
                  <a:t>f</a:t>
                </a:r>
                <a:r>
                  <a:rPr lang="en-US" dirty="0">
                    <a:latin typeface="Palatino Linotype" pitchFamily="18" charset="0"/>
                  </a:rPr>
                  <a:t> are isolated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endParaRPr lang="en-US" dirty="0">
                  <a:latin typeface="Palatino Linotype" pitchFamily="18" charset="0"/>
                </a:endParaRPr>
              </a:p>
            </p:txBody>
          </p:sp>
        </mc:Choice>
        <mc:Fallback xmlns="">
          <p:sp>
            <p:nvSpPr>
              <p:cNvPr id="410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609600"/>
                <a:ext cx="8305800" cy="4893647"/>
              </a:xfrm>
              <a:prstGeom prst="rect">
                <a:avLst/>
              </a:prstGeom>
              <a:blipFill rotWithShape="0">
                <a:blip r:embed="rId3"/>
                <a:stretch>
                  <a:fillRect l="-1086" t="-845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45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1015663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. It has a second order pole at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. Thus,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in any manner.</a:t>
                </a: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659" b="-4762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16.3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Residue Integration Method</a:t>
            </a:r>
          </a:p>
        </p:txBody>
      </p:sp>
    </p:spTree>
    <p:extLst>
      <p:ext uri="{BB962C8B-B14F-4D97-AF65-F5344CB8AC3E}">
        <p14:creationId xmlns:p14="http://schemas.microsoft.com/office/powerpoint/2010/main" val="69825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519732"/>
                <a:ext cx="8382000" cy="3608745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Key ideas: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Residue at simple pole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𝑅𝑒𝑠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𝑅𝑒𝑠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Residue Theorem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𝑅𝑒𝑠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19732"/>
                <a:ext cx="8382000" cy="3608745"/>
              </a:xfrm>
              <a:prstGeom prst="rect">
                <a:avLst/>
              </a:prstGeom>
              <a:blipFill rotWithShape="0">
                <a:blip r:embed="rId3"/>
                <a:stretch>
                  <a:fillRect l="-1004" t="-324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2556469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Let </a:t>
                </a:r>
                <a:r>
                  <a:rPr lang="en-US" altLang="en-US" sz="2000" i="1" dirty="0">
                    <a:latin typeface="Palatino Linotype" panose="02040502050505030304" pitchFamily="18" charset="0"/>
                  </a:rPr>
                  <a:t>C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 be a simple closed path oriented counterclockwise with 0 and 1 inside </a:t>
                </a:r>
                <a:r>
                  <a:rPr lang="en-US" altLang="en-US" sz="2000" i="1" dirty="0">
                    <a:latin typeface="Palatino Linotype" panose="02040502050505030304" pitchFamily="18" charset="0"/>
                  </a:rPr>
                  <a:t>C. 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Then </a:t>
                </a:r>
              </a:p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𝑅𝑒𝑠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𝑅𝑒𝑠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=−4+1=−3</m:t>
                          </m:r>
                        </m:e>
                      </m:nary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follows from the Residue Theorem.</a:t>
                </a: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2556469"/>
              </a:xfrm>
              <a:prstGeom prst="rect">
                <a:avLst/>
              </a:prstGeom>
              <a:blipFill rotWithShape="0">
                <a:blip r:embed="rId3"/>
                <a:stretch>
                  <a:fillRect l="-659" b="-1425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46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16.4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b="1" dirty="0">
                <a:solidFill>
                  <a:srgbClr val="009999"/>
                </a:solidFill>
                <a:latin typeface="Arial" charset="0"/>
              </a:rPr>
              <a:t>Residue Integration of Real Integrals</a:t>
            </a:r>
          </a:p>
        </p:txBody>
      </p:sp>
    </p:spTree>
    <p:extLst>
      <p:ext uri="{BB962C8B-B14F-4D97-AF65-F5344CB8AC3E}">
        <p14:creationId xmlns:p14="http://schemas.microsoft.com/office/powerpoint/2010/main" val="352770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381000" y="274722"/>
                <a:ext cx="8382000" cy="4786823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Key terms: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Cauchy principal value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Improper integral in terms of residues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latin typeface="Palatino Linotype" pitchFamily="18" charset="0"/>
                  </a:rPr>
                  <a:t>Cauchy principal value in terms of residues, where UHP is “upper half plane”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𝐻𝑃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𝑝𝑜𝑙𝑒𝑠</m:t>
                              </m:r>
                            </m:sub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𝑒𝑎𝑙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𝑝𝑜𝑙𝑒𝑠</m:t>
                              </m:r>
                            </m:sub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latin typeface="Palatino Linotype" pitchFamily="18" charset="0"/>
                </a:endParaRPr>
              </a:p>
              <a:p>
                <a:pPr>
                  <a:defRPr/>
                </a:pPr>
                <a:endParaRPr lang="en-US" dirty="0">
                  <a:latin typeface="Palatino Linotype" pitchFamily="18" charset="0"/>
                </a:endParaRP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74722"/>
                <a:ext cx="8382000" cy="4786823"/>
              </a:xfrm>
              <a:prstGeom prst="rect">
                <a:avLst/>
              </a:prstGeom>
              <a:blipFill rotWithShape="0">
                <a:blip r:embed="rId3"/>
                <a:stretch>
                  <a:fillRect l="-1076" t="-370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8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4828309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Consider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+2)(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r>
                  <a:rPr lang="en-US" altLang="en-US" sz="2000" dirty="0">
                    <a:latin typeface="Palatino Linotype" panose="02040502050505030304" pitchFamily="18" charset="0"/>
                  </a:rPr>
                  <a:t>The integrand has simple poles at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=1,2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on the real axis and at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in the upper half plane. Also,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𝑅𝑒𝑠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−2)(</m:t>
                                  </m:r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=−1/2</m:t>
                      </m:r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𝑅𝑒𝑠</m:t>
                          </m:r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−2)(</m:t>
                                  </m:r>
                                  <m:sSup>
                                    <m:sSup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altLang="en-US" sz="2000" b="0" i="1" dirty="0">
                  <a:latin typeface="Cambria Math" panose="02040503050406030204" pitchFamily="18" charset="0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𝑅𝑒𝑠</m:t>
                          </m:r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+2)(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6+2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3−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r>
                  <a:rPr lang="en-US" altLang="en-US" sz="2000" dirty="0">
                    <a:latin typeface="Palatino Linotype" panose="02040502050505030304" pitchFamily="18" charset="0"/>
                  </a:rPr>
                  <a:t>Thus the integral is equal to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+2)(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3−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4828309"/>
              </a:xfrm>
              <a:prstGeom prst="rect">
                <a:avLst/>
              </a:prstGeom>
              <a:blipFill rotWithShape="0">
                <a:blip r:embed="rId3"/>
                <a:stretch>
                  <a:fillRect l="-659" t="-630" r="-659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59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56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6950</TotalTime>
  <Words>962</Words>
  <Application>Microsoft Office PowerPoint</Application>
  <PresentationFormat>On-screen Show (4:3)</PresentationFormat>
  <Paragraphs>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Palatino Linotype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SJECCD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Gloria Langer</dc:creator>
  <cp:lastModifiedBy>Eskin, Kimberly - Hoboken</cp:lastModifiedBy>
  <cp:revision>198</cp:revision>
  <dcterms:created xsi:type="dcterms:W3CDTF">2007-10-22T03:05:36Z</dcterms:created>
  <dcterms:modified xsi:type="dcterms:W3CDTF">2017-11-13T15:22:00Z</dcterms:modified>
</cp:coreProperties>
</file>