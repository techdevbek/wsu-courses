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7" r:id="rId2"/>
    <p:sldId id="400" r:id="rId3"/>
    <p:sldId id="258" r:id="rId4"/>
    <p:sldId id="403" r:id="rId5"/>
    <p:sldId id="404" r:id="rId6"/>
    <p:sldId id="401" r:id="rId7"/>
    <p:sldId id="402" r:id="rId8"/>
    <p:sldId id="317" r:id="rId9"/>
    <p:sldId id="388" r:id="rId10"/>
    <p:sldId id="386" r:id="rId11"/>
    <p:sldId id="387" r:id="rId12"/>
    <p:sldId id="389" r:id="rId13"/>
    <p:sldId id="399" r:id="rId14"/>
    <p:sldId id="405" r:id="rId15"/>
    <p:sldId id="406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CCECFF"/>
    <a:srgbClr val="FF9966"/>
    <a:srgbClr val="CCFFCC"/>
    <a:srgbClr val="33CCCC"/>
    <a:srgbClr val="009999"/>
    <a:srgbClr val="CC33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8" autoAdjust="0"/>
    <p:restoredTop sz="94643" autoAdjust="0"/>
  </p:normalViewPr>
  <p:slideViewPr>
    <p:cSldViewPr>
      <p:cViewPr varScale="1">
        <p:scale>
          <a:sx n="111" d="100"/>
          <a:sy n="111" d="100"/>
        </p:scale>
        <p:origin x="161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33A1500-D1B9-4C22-B6EE-C95A87E8C6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5268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3096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10880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50431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48743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7913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7930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EA5B777-1766-483D-A19B-B4E9FB5B817A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476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4685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3177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82533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DC12C4C-A921-49B9-8D72-010EEDCFF246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57577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02810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5692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6480B9C-D680-44B8-AE43-832FA65A4048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48690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FDFDED7-F47B-45E9-9014-44863345DFBD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40568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>
                <a:latin typeface="Arial" pitchFamily="34" charset="0"/>
              </a:rPr>
              <a:t>Finite Mathematics:  An Applied Approach </a:t>
            </a:r>
            <a:r>
              <a:rPr lang="en-US" sz="1200">
                <a:latin typeface="Arial" pitchFamily="34" charset="0"/>
              </a:rPr>
              <a:t> by Michael Sullivan</a:t>
            </a:r>
          </a:p>
          <a:p>
            <a:pPr algn="r">
              <a:defRPr/>
            </a:pPr>
            <a:r>
              <a:rPr lang="en-US" sz="1200">
                <a:latin typeface="Arial" pitchFamily="34" charset="0"/>
              </a:rPr>
              <a:t>Copyright 2011 by John Wiley &amp; Sons.  All rights reserved.</a:t>
            </a: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63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4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094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65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6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6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4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251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5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8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2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2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3200400" y="61722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i="1" dirty="0">
                <a:latin typeface="Arial" charset="0"/>
              </a:rPr>
              <a:t>Advanced Engineering Mathematics, 10/e </a:t>
            </a:r>
            <a:r>
              <a:rPr lang="en-US" sz="1200" dirty="0">
                <a:latin typeface="Arial" charset="0"/>
              </a:rPr>
              <a:t>by Erwin </a:t>
            </a:r>
            <a:r>
              <a:rPr lang="en-US" sz="1200" dirty="0" err="1">
                <a:latin typeface="Arial" charset="0"/>
              </a:rPr>
              <a:t>Kreyszig</a:t>
            </a:r>
            <a:endParaRPr lang="en-US" sz="1200" dirty="0">
              <a:latin typeface="Arial" charset="0"/>
            </a:endParaRPr>
          </a:p>
          <a:p>
            <a:pPr algn="r">
              <a:defRPr/>
            </a:pPr>
            <a:r>
              <a:rPr lang="en-US" sz="1200" dirty="0">
                <a:latin typeface="Arial" charset="0"/>
              </a:rPr>
              <a:t>Copyright 2011 by John Wiley &amp; Sons.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17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Conformal Mapping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631216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17.1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Geometry of Analytic Functions:</a:t>
            </a:r>
          </a:p>
          <a:p>
            <a:pPr algn="ctr">
              <a:defRPr/>
            </a:pP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Conformal Mapping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96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457200" y="1219200"/>
            <a:ext cx="8305800" cy="2123658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 smtClean="0">
                <a:latin typeface="Palatino Linotype" pitchFamily="18" charset="0"/>
              </a:rPr>
              <a:t>Key ideas</a:t>
            </a: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Palatino Linotype" pitchFamily="18" charset="0"/>
              </a:rPr>
              <a:t>Conformal map – preserves angles</a:t>
            </a: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Palatino Linotype" pitchFamily="18" charset="0"/>
              </a:rPr>
              <a:t>Analytic functions are conformal except at critical points</a:t>
            </a: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Palatino Linotype" pitchFamily="18" charset="0"/>
              </a:rPr>
              <a:t>Principle of Inverse Mapping: swap the roles of </a:t>
            </a:r>
            <a:r>
              <a:rPr lang="en-US" i="1" dirty="0" smtClean="0">
                <a:latin typeface="Palatino Linotype" pitchFamily="18" charset="0"/>
              </a:rPr>
              <a:t>z</a:t>
            </a:r>
            <a:r>
              <a:rPr lang="en-US" dirty="0" smtClean="0">
                <a:latin typeface="Palatino Linotype" pitchFamily="18" charset="0"/>
              </a:rPr>
              <a:t> and </a:t>
            </a:r>
            <a:r>
              <a:rPr lang="en-US" i="1" dirty="0" smtClean="0">
                <a:latin typeface="Palatino Linotype" pitchFamily="18" charset="0"/>
              </a:rPr>
              <a:t>w</a:t>
            </a:r>
            <a:endParaRPr lang="en-US" dirty="0" smtClean="0">
              <a:latin typeface="Palatino Linotyp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EXAMPLE 1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2708434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as outlined in the text: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Polar form reveals circles are mapped to circles and rays to rays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Cartesian form reveals vertical lines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are mapped onto left-opening parabolas while horizontal lines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are mapped onto right-opening parabolas</a:t>
                </a:r>
                <a:r>
                  <a:rPr lang="en-US" altLang="en-US" sz="2000" dirty="0">
                    <a:latin typeface="Palatino Linotype" panose="02040502050505030304" pitchFamily="18" charset="0"/>
                  </a:rPr>
                  <a:t> 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(see figure)</a:t>
                </a:r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2708434"/>
              </a:xfrm>
              <a:prstGeom prst="rect">
                <a:avLst/>
              </a:prstGeom>
              <a:blipFill rotWithShape="0">
                <a:blip r:embed="rId3"/>
                <a:stretch>
                  <a:fillRect l="-659" r="-1099" b="-1121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7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EXAMPLE 1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p:sp>
        <p:nvSpPr>
          <p:cNvPr id="356356" name="Text Box 4"/>
          <p:cNvSpPr txBox="1">
            <a:spLocks noChangeArrowheads="1"/>
          </p:cNvSpPr>
          <p:nvPr/>
        </p:nvSpPr>
        <p:spPr bwMode="auto">
          <a:xfrm>
            <a:off x="457200" y="584200"/>
            <a:ext cx="8305800" cy="5478423"/>
          </a:xfrm>
          <a:prstGeom prst="rect">
            <a:avLst/>
          </a:prstGeom>
          <a:noFill/>
          <a:ln w="9525">
            <a:solidFill>
              <a:srgbClr val="0099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 smtClean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 smtClean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 smtClean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 smtClean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>
              <a:latin typeface="Palatino Linotype" panose="0204050205050503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endParaRPr lang="en-US" altLang="en-US" sz="2000" dirty="0">
              <a:latin typeface="Palatino Linotype" panose="0204050205050503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030" y="755471"/>
            <a:ext cx="6377940" cy="25679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459757"/>
            <a:ext cx="280987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0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17.2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800" b="1" dirty="0" smtClean="0">
                <a:solidFill>
                  <a:srgbClr val="009999"/>
                </a:solidFill>
                <a:latin typeface="Arial" charset="0"/>
              </a:rPr>
              <a:t>Linear Fractional Transformations</a:t>
            </a:r>
            <a:endParaRPr lang="en-US" sz="28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45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Text Box 6"/>
              <p:cNvSpPr txBox="1">
                <a:spLocks noChangeArrowheads="1"/>
              </p:cNvSpPr>
              <p:nvPr/>
            </p:nvSpPr>
            <p:spPr bwMode="auto">
              <a:xfrm>
                <a:off x="533400" y="609600"/>
                <a:ext cx="8305800" cy="2736903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Key terms: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Linear Fractional Transformation: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US" dirty="0" smtClean="0">
                  <a:latin typeface="Palatino Linotype" pitchFamily="18" charset="0"/>
                </a:endParaRP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Translations, rotations, linear transformations, inversion of the unit circle</a:t>
                </a:r>
              </a:p>
              <a:p>
                <a:pPr marL="342900" indent="-342900">
                  <a:spcBef>
                    <a:spcPct val="50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Fixed points</a:t>
                </a:r>
              </a:p>
            </p:txBody>
          </p:sp>
        </mc:Choice>
        <mc:Fallback xmlns="">
          <p:sp>
            <p:nvSpPr>
              <p:cNvPr id="410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609600"/>
                <a:ext cx="8305800" cy="2736903"/>
              </a:xfrm>
              <a:prstGeom prst="rect">
                <a:avLst/>
              </a:prstGeom>
              <a:blipFill rotWithShape="0">
                <a:blip r:embed="rId3"/>
                <a:stretch>
                  <a:fillRect l="-1086" t="-1426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45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>
                <a:solidFill>
                  <a:srgbClr val="0099CC"/>
                </a:solidFill>
                <a:latin typeface="Arial" panose="020B0604020202020204" pitchFamily="34" charset="0"/>
              </a:rPr>
              <a:t>EXAMPLE</a:t>
            </a:r>
            <a:r>
              <a:rPr lang="en-US" alt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1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1785104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Consider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.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Polar form reveals the unit circle is mapped onto the unit circle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Horizontal and vertical lines are mapped onto circles or lines</a:t>
                </a:r>
              </a:p>
            </p:txBody>
          </p:sp>
        </mc:Choice>
        <mc:Fallback xmlns=""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1785104"/>
              </a:xfrm>
              <a:prstGeom prst="rect">
                <a:avLst/>
              </a:prstGeom>
              <a:blipFill rotWithShape="0">
                <a:blip r:embed="rId3"/>
                <a:stretch>
                  <a:fillRect l="-659" b="-2034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17.3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2000" b="1" dirty="0" smtClean="0">
                <a:solidFill>
                  <a:srgbClr val="009999"/>
                </a:solidFill>
                <a:latin typeface="Arial" charset="0"/>
              </a:rPr>
              <a:t>Special Linear Fractional Transformations</a:t>
            </a:r>
            <a:endParaRPr lang="en-US" sz="20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25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457200" y="639125"/>
                <a:ext cx="8382000" cy="3369962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Theorem 1. </a:t>
                </a:r>
                <a:r>
                  <a:rPr lang="en-US" b="1" dirty="0" smtClean="0">
                    <a:latin typeface="Palatino Linotype" pitchFamily="18" charset="0"/>
                  </a:rPr>
                  <a:t>Three Points Theorem</a:t>
                </a: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Three given distinct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can always be mapped onto three prescribed distinct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 smtClean="0">
                    <a:latin typeface="Palatino Linotype" pitchFamily="18" charset="0"/>
                  </a:rPr>
                  <a:t> by the one and only one linear fractional transformation described implicitly via</a:t>
                </a: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 smtClean="0">
                  <a:latin typeface="Palatino Linotype" pitchFamily="18" charset="0"/>
                </a:endParaRPr>
              </a:p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If one of these points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 smtClean="0">
                    <a:latin typeface="Palatino Linotype" pitchFamily="18" charset="0"/>
                  </a:rPr>
                  <a:t>, the quotient of the two differences containing this point must be replaced by 1.</a:t>
                </a: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639125"/>
                <a:ext cx="8382000" cy="3369962"/>
              </a:xfrm>
              <a:prstGeom prst="rect">
                <a:avLst/>
              </a:prstGeom>
              <a:blipFill rotWithShape="0">
                <a:blip r:embed="rId3"/>
                <a:stretch>
                  <a:fillRect l="-1004" t="-671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4572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EXAMPLE 2</a:t>
            </a:r>
            <a:r>
              <a:rPr lang="en-US" altLang="en-US" b="1" dirty="0" smtClean="0">
                <a:solidFill>
                  <a:srgbClr val="0099CC"/>
                </a:solidFill>
                <a:latin typeface="Arial" panose="020B0604020202020204" pitchFamily="34" charset="0"/>
              </a:rPr>
              <a:t> </a:t>
            </a:r>
            <a:endParaRPr lang="en-US" altLang="en-US" b="1" dirty="0">
              <a:solidFill>
                <a:srgbClr val="0099CC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6356" name="Text Box 4"/>
              <p:cNvSpPr txBox="1">
                <a:spLocks noChangeArrowheads="1"/>
              </p:cNvSpPr>
              <p:nvPr/>
            </p:nvSpPr>
            <p:spPr bwMode="auto">
              <a:xfrm>
                <a:off x="457200" y="584200"/>
                <a:ext cx="8305800" cy="5362622"/>
              </a:xfrm>
              <a:prstGeom prst="rect">
                <a:avLst/>
              </a:prstGeom>
              <a:noFill/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 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b="0" i="0" smtClean="0">
                        <a:latin typeface="Cambria Math" panose="02040503050406030204" pitchFamily="18" charset="0"/>
                      </a:rPr>
                      <m:t>nto</m:t>
                    </m:r>
                    <m:r>
                      <a:rPr lang="en-US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=−1, 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, then the linear fractional transformation that accomplishes this as described by the Three Points Theorem is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−∞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altLang="en-US" sz="2000" dirty="0" smtClean="0">
                  <a:latin typeface="Palatino Linotype" panose="0204050205050503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>
                    <a:latin typeface="Palatino Linotype" panose="02040502050505030304" pitchFamily="18" charset="0"/>
                  </a:rPr>
                  <a:t>w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hich becomes (according to the theorem)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en-US" sz="2000" dirty="0" smtClean="0">
                  <a:latin typeface="Palatino Linotype" panose="0204050205050503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Solving for  </a:t>
                </a:r>
                <a:r>
                  <a:rPr lang="en-US" altLang="en-US" sz="2000" i="1" dirty="0" smtClean="0">
                    <a:latin typeface="Palatino Linotype" panose="02040502050505030304" pitchFamily="18" charset="0"/>
                  </a:rPr>
                  <a:t>w</a:t>
                </a:r>
                <a:r>
                  <a:rPr lang="en-US" altLang="en-US" sz="2000" dirty="0" smtClean="0">
                    <a:latin typeface="Palatino Linotype" panose="02040502050505030304" pitchFamily="18" charset="0"/>
                  </a:rPr>
                  <a:t>,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</m:oMath>
                  </m:oMathPara>
                </a14:m>
                <a:endParaRPr lang="en-US" altLang="en-US" sz="2000" dirty="0">
                  <a:latin typeface="Palatino Linotype" panose="02040502050505030304" pitchFamily="18" charset="0"/>
                </a:endParaRPr>
              </a:p>
            </p:txBody>
          </p:sp>
        </mc:Choice>
        <mc:Fallback>
          <p:sp>
            <p:nvSpPr>
              <p:cNvPr id="35635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584200"/>
                <a:ext cx="8305800" cy="5362622"/>
              </a:xfrm>
              <a:prstGeom prst="rect">
                <a:avLst/>
              </a:prstGeom>
              <a:blipFill rotWithShape="0">
                <a:blip r:embed="rId3"/>
                <a:stretch>
                  <a:fillRect l="-659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46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6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6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6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63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6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56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17.4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b="1" dirty="0" smtClean="0">
                <a:solidFill>
                  <a:srgbClr val="009999"/>
                </a:solidFill>
                <a:latin typeface="Arial" charset="0"/>
              </a:rPr>
              <a:t>Conformal Mapping by Other Functions</a:t>
            </a:r>
            <a:endParaRPr lang="en-US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70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58403" name="Text Box 3"/>
              <p:cNvSpPr txBox="1">
                <a:spLocks noChangeArrowheads="1"/>
              </p:cNvSpPr>
              <p:nvPr/>
            </p:nvSpPr>
            <p:spPr bwMode="auto">
              <a:xfrm>
                <a:off x="381000" y="1329305"/>
                <a:ext cx="8382000" cy="2677656"/>
              </a:xfrm>
              <a:prstGeom prst="rect">
                <a:avLst/>
              </a:prstGeom>
              <a:solidFill>
                <a:srgbClr val="DDDDFF"/>
              </a:solid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square" anchor="ctr" anchorCtr="0">
                <a:spAutoFit/>
              </a:bodyPr>
              <a:lstStyle/>
              <a:p>
                <a:pPr>
                  <a:defRPr/>
                </a:pPr>
                <a:r>
                  <a:rPr lang="en-US" dirty="0" smtClean="0">
                    <a:latin typeface="Palatino Linotype" pitchFamily="18" charset="0"/>
                  </a:rPr>
                  <a:t>Other conformal maps of note: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dirty="0" smtClean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dirty="0" smtClean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sinh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dirty="0" smtClean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cosh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dirty="0" smtClean="0">
                  <a:latin typeface="Palatino Linotype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en-US" dirty="0">
                  <a:latin typeface="Palatino Linotype" pitchFamily="18" charset="0"/>
                </a:endParaRPr>
              </a:p>
              <a:p>
                <a:pPr>
                  <a:defRPr/>
                </a:pPr>
                <a:endParaRPr lang="en-US" dirty="0">
                  <a:latin typeface="Palatino Linotype" pitchFamily="18" charset="0"/>
                </a:endParaRPr>
              </a:p>
            </p:txBody>
          </p:sp>
        </mc:Choice>
        <mc:Fallback xmlns="">
          <p:sp>
            <p:nvSpPr>
              <p:cNvPr id="35840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329305"/>
                <a:ext cx="8382000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1076" t="-1078"/>
                </a:stretch>
              </a:blipFill>
              <a:ln w="9525">
                <a:solidFill>
                  <a:srgbClr val="0099CC"/>
                </a:solidFill>
                <a:miter lim="800000"/>
                <a:headEnd/>
                <a:tailEnd/>
              </a:ln>
              <a:effectLst>
                <a:outerShdw dist="172739" dir="3238358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8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5" name="Text Box 7"/>
          <p:cNvSpPr txBox="1">
            <a:spLocks noChangeArrowheads="1"/>
          </p:cNvSpPr>
          <p:nvPr/>
        </p:nvSpPr>
        <p:spPr bwMode="auto">
          <a:xfrm>
            <a:off x="914400" y="2286000"/>
            <a:ext cx="7467600" cy="1200329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 dirty="0">
              <a:latin typeface="Palatino Linotype" pitchFamily="18" charset="0"/>
            </a:endParaRPr>
          </a:p>
          <a:p>
            <a:pPr algn="ctr">
              <a:defRPr/>
            </a:pPr>
            <a:r>
              <a:rPr lang="en-US" sz="4800" b="1" dirty="0" smtClean="0">
                <a:solidFill>
                  <a:srgbClr val="33CCCC"/>
                </a:solidFill>
                <a:latin typeface="Arial" charset="0"/>
              </a:rPr>
              <a:t>17.5</a:t>
            </a:r>
            <a:r>
              <a:rPr lang="en-US" sz="3600" b="1" dirty="0" smtClean="0">
                <a:solidFill>
                  <a:srgbClr val="CC3300"/>
                </a:solidFill>
                <a:latin typeface="Arial" charset="0"/>
              </a:rPr>
              <a:t>  </a:t>
            </a:r>
            <a:r>
              <a:rPr lang="en-US" sz="3600" b="1" dirty="0" smtClean="0">
                <a:solidFill>
                  <a:srgbClr val="009999"/>
                </a:solidFill>
                <a:latin typeface="Arial" charset="0"/>
              </a:rPr>
              <a:t>Riemann Surfaces</a:t>
            </a:r>
            <a:endParaRPr lang="en-US" sz="3600" b="1" dirty="0">
              <a:solidFill>
                <a:srgbClr val="009999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1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381000" y="1513971"/>
            <a:ext cx="8382000" cy="2308324"/>
          </a:xfrm>
          <a:prstGeom prst="rect">
            <a:avLst/>
          </a:prstGeom>
          <a:solidFill>
            <a:srgbClr val="DDDDFF"/>
          </a:solidFill>
          <a:ln w="9525">
            <a:solidFill>
              <a:srgbClr val="0099CC"/>
            </a:solidFill>
            <a:miter lim="800000"/>
            <a:headEnd/>
            <a:tailEnd/>
          </a:ln>
          <a:effectLst>
            <a:outerShdw dist="172739" dir="3238358" algn="ctr" rotWithShape="0">
              <a:schemeClr val="folHlink">
                <a:alpha val="50000"/>
              </a:schemeClr>
            </a:outerShdw>
          </a:effectLst>
        </p:spPr>
        <p:txBody>
          <a:bodyPr wrap="square" anchor="ctr" anchorCtr="0">
            <a:spAutoFit/>
          </a:bodyPr>
          <a:lstStyle/>
          <a:p>
            <a:pPr>
              <a:defRPr/>
            </a:pPr>
            <a:r>
              <a:rPr lang="en-US" dirty="0" smtClean="0">
                <a:latin typeface="Palatino Linotype" pitchFamily="18" charset="0"/>
              </a:rPr>
              <a:t>Key concept/terms: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latin typeface="Palatino Linotype" pitchFamily="18" charset="0"/>
              </a:rPr>
              <a:t>A Riemann surface allows multivalued functions to be viewed as single-valued functions consisting of several “sheets”.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mtClean="0">
                <a:latin typeface="Palatino Linotype" pitchFamily="18" charset="0"/>
              </a:rPr>
              <a:t>Branch point</a:t>
            </a:r>
            <a:endParaRPr lang="en-US" dirty="0">
              <a:latin typeface="Palatino Linotype" pitchFamily="18" charset="0"/>
            </a:endParaRPr>
          </a:p>
          <a:p>
            <a:pPr>
              <a:defRPr/>
            </a:pPr>
            <a:endParaRPr lang="en-US" dirty="0"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6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6989</TotalTime>
  <Words>144</Words>
  <Application>Microsoft Office PowerPoint</Application>
  <PresentationFormat>On-screen Show (4:3)</PresentationFormat>
  <Paragraphs>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Palatino Linotype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SJECCD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Gloria Langer</dc:creator>
  <cp:lastModifiedBy>Davis, John M.</cp:lastModifiedBy>
  <cp:revision>204</cp:revision>
  <dcterms:created xsi:type="dcterms:W3CDTF">2007-10-22T03:05:36Z</dcterms:created>
  <dcterms:modified xsi:type="dcterms:W3CDTF">2017-11-10T20:37:31Z</dcterms:modified>
</cp:coreProperties>
</file>